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sldIdLst>
    <p:sldId id="34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40"/>
    <p:restoredTop sz="94614"/>
  </p:normalViewPr>
  <p:slideViewPr>
    <p:cSldViewPr snapToGrid="0">
      <p:cViewPr varScale="1">
        <p:scale>
          <a:sx n="90" d="100"/>
          <a:sy n="90" d="100"/>
        </p:scale>
        <p:origin x="216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A6A6A6"/>
            </a:solidFill>
            <a:ln>
              <a:noFill/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EC1F2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362-F740-85EB-7BF34CFE604F}"/>
              </c:ext>
            </c:extLst>
          </c:dPt>
          <c:dLbls>
            <c:numFmt formatCode="&quot;$&quot;#,##0&quot;M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62626"/>
                    </a:solidFill>
                    <a:latin typeface="Malgun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이전 총액</c:v>
              </c:pt>
              <c:pt idx="1">
                <c:v>작품 매칭 (80%)</c:v>
              </c:pt>
              <c:pt idx="2">
                <c:v>분배 완료 (58%)</c:v>
              </c:pt>
            </c:strLit>
          </c:cat>
          <c:val>
            <c:numLit>
              <c:formatCode>General</c:formatCode>
              <c:ptCount val="3"/>
              <c:pt idx="0">
                <c:v>397</c:v>
              </c:pt>
              <c:pt idx="1">
                <c:v>317</c:v>
              </c:pt>
              <c:pt idx="2">
                <c:v>229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362-F740-85EB-7BF34CFE60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62626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4"/>
              <c:pt idx="0">
                <c:v>매출 e1</c:v>
              </c:pt>
              <c:pt idx="1">
                <c:v>플랫폼 25%</c:v>
              </c:pt>
              <c:pt idx="2">
                <c:v>운영 5%</c:v>
              </c:pt>
              <c:pt idx="3">
                <c:v>권리자 배분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7500</c:v>
              </c:pt>
              <c:pt idx="2">
                <c:v>7000</c:v>
              </c:pt>
              <c:pt idx="3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4552-0248-9713-9D414132B65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EC1F28"/>
            </a:solidFill>
            <a:ln>
              <a:noFill/>
            </a:ln>
          </c:spPr>
          <c:invertIfNegative val="1"/>
          <c:cat>
            <c:strLit>
              <c:ptCount val="4"/>
              <c:pt idx="0">
                <c:v>매출 e1</c:v>
              </c:pt>
              <c:pt idx="1">
                <c:v>플랫폼 25%</c:v>
              </c:pt>
              <c:pt idx="2">
                <c:v>운영 5%</c:v>
              </c:pt>
              <c:pt idx="3">
                <c:v>권리자 배분</c:v>
              </c:pt>
            </c:strLit>
          </c:cat>
          <c:val>
            <c:numLit>
              <c:formatCode>General</c:formatCode>
              <c:ptCount val="4"/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552-0248-9713-9D414132B65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EC1F28"/>
            </a:solidFill>
            <a:ln>
              <a:noFill/>
            </a:ln>
          </c:spPr>
          <c:invertIfNegative val="1"/>
          <c:cat>
            <c:strLit>
              <c:ptCount val="4"/>
              <c:pt idx="0">
                <c:v>매출 e1</c:v>
              </c:pt>
              <c:pt idx="1">
                <c:v>플랫폼 25%</c:v>
              </c:pt>
              <c:pt idx="2">
                <c:v>운영 5%</c:v>
              </c:pt>
              <c:pt idx="3">
                <c:v>권리자 배분</c:v>
              </c:pt>
            </c:strLit>
          </c:cat>
          <c:val>
            <c:numLit>
              <c:formatCode>General</c:formatCode>
              <c:ptCount val="4"/>
              <c:pt idx="1">
                <c:v>2500</c:v>
              </c:pt>
              <c:pt idx="2">
                <c:v>500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552-0248-9713-9D414132B654}"/>
            </c:ext>
          </c:extLst>
        </c:ser>
        <c:ser>
          <c:idx val="3"/>
          <c:order val="3"/>
          <c:tx>
            <c:v>Total</c:v>
          </c:tx>
          <c:spPr>
            <a:solidFill>
              <a:srgbClr val="141414"/>
            </a:solidFill>
            <a:ln>
              <a:noFill/>
            </a:ln>
          </c:spPr>
          <c:invertIfNegative val="1"/>
          <c:cat>
            <c:strLit>
              <c:ptCount val="4"/>
              <c:pt idx="0">
                <c:v>매출 e1</c:v>
              </c:pt>
              <c:pt idx="1">
                <c:v>플랫폼 25%</c:v>
              </c:pt>
              <c:pt idx="2">
                <c:v>운영 5%</c:v>
              </c:pt>
              <c:pt idx="3">
                <c:v>권리자 배분</c:v>
              </c:pt>
            </c:strLit>
          </c:cat>
          <c:val>
            <c:numLit>
              <c:formatCode>General</c:formatCode>
              <c:ptCount val="4"/>
              <c:pt idx="0">
                <c:v>10000</c:v>
              </c:pt>
              <c:pt idx="3">
                <c:v>7000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4552-0248-9713-9D414132B65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400" b="1">
                        <a:solidFill>
                          <a:srgbClr val="141414"/>
                        </a:solidFill>
                        <a:latin typeface="Malgun Gothic"/>
                      </a:rPr>
                      <a:t>10,000</a:t>
                    </a:r>
                    <a:r>
                      <a:rPr lang="ko-KR" altLang="en-US" sz="1400" b="1">
                        <a:solidFill>
                          <a:srgbClr val="141414"/>
                        </a:solidFill>
                        <a:latin typeface="Malgun Gothic"/>
                      </a:rPr>
                      <a:t>원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552-0248-9713-9D414132B65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EC1F28"/>
                        </a:solidFill>
                        <a:latin typeface="Malgun Gothic"/>
                      </a:rPr>
                      <a:t>−2,500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552-0248-9713-9D414132B65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EC1F28"/>
                        </a:solidFill>
                        <a:latin typeface="Malgun Gothic"/>
                      </a:rPr>
                      <a:t>−500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552-0248-9713-9D414132B65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400" b="1">
                        <a:solidFill>
                          <a:srgbClr val="141414"/>
                        </a:solidFill>
                        <a:latin typeface="Malgun Gothic"/>
                      </a:rPr>
                      <a:t>7,000</a:t>
                    </a:r>
                    <a:r>
                      <a:rPr lang="ko-KR" altLang="en-US" sz="1400" b="1">
                        <a:solidFill>
                          <a:srgbClr val="141414"/>
                        </a:solidFill>
                        <a:latin typeface="Malgun Gothic"/>
                      </a:rPr>
                      <a:t>원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552-0248-9713-9D414132B654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매출 e1</c:v>
              </c:pt>
              <c:pt idx="1">
                <c:v>플랫폼 25%</c:v>
              </c:pt>
              <c:pt idx="2">
                <c:v>운영 5%</c:v>
              </c:pt>
              <c:pt idx="3">
                <c:v>권리자 배분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</c:numLit>
          </c:val>
          <c:extLst>
            <c:ext xmlns:c16="http://schemas.microsoft.com/office/drawing/2014/chart" uri="{C3380CC4-5D6E-409C-BE32-E72D297353CC}">
              <c16:uniqueId val="{00000008-4552-0248-9713-9D414132B6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62626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B0661-2E69-9ED0-958B-C21AE186F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FDE39D-C1A2-689B-B325-797526F5D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96E785-1953-4D28-1872-D2000D38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D158F-D6D7-8962-F953-64293539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F01614-F1AA-C515-AAAF-074AA019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630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D38AA-0E2F-AB95-63EF-8B2C15D2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01E87-A882-3697-F914-34EBC30A8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74EA78-7808-0089-0619-C63A21AA3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8AD35-CF02-15C4-D164-B4DDCBC8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33F9D-A0A6-1D15-364B-BDBF303D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857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C1E66-8612-099F-28D3-932A8EE7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F164CF-AAF0-3BAD-0C60-FB99CA7FC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AA824-9FE5-CC9C-51BB-C6B5D95D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F8180C-F469-EBC3-8806-507AA383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A4F9E-60A1-94AC-6BD9-6219E4C9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293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1FAE6-5DFB-816B-3C16-825C48A0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5D665-967F-F1D4-6802-7EA3F6DF5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052EA0-F857-84EE-169A-2B628EAEF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CAD010-1650-F71E-3469-8C307409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E0F26D-945A-5A54-52EE-23C774D8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A05575-818E-3662-A1D5-AC0E758E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09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66D7A-AD04-EA8D-DF83-30468ADE8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9F38F8-DB54-31FD-C788-CB2ACB0C4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178C87-8848-B842-8EAA-490CFC81F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BF6A43-03FD-02F8-4391-45D5F20FD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0B637D-C732-8EA7-2C0A-006D8484E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9A82DC-37DF-FF64-B87B-75E6A451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898752-DE67-B175-3975-34D90A41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9EC66F-E083-ED5D-2C7D-8AECAA97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360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CBF06-8D07-5A4D-94CF-D118EDE9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5B5910-05AB-EC82-C52F-FDDBCF76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B7DE0F-62A7-637A-937F-1E59BFA0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C62BAA-AEF4-32FC-A2F5-B44D6C39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465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1E7ABE-AD0C-35DF-366E-21D69A48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DDFCF0-5414-7721-0F55-1787AD84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92F883-8FED-07BE-29C6-611AAAAD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88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43C9F-1FBC-7881-D353-815E3878D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2D5DB-2818-D0FC-B95E-3E75627CD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8A89A0-C2D6-5A40-6D9E-99FBC5793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F1456F-8A69-D6A1-2791-FE124B5C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6A645F-AB98-2B43-5E35-1DAC6935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013CD2-8408-F7C1-BDDC-14A7652A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273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A281F-8FA6-78D8-EC0E-D0FCB4783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99D4F8-3806-BA4F-DB28-B4D5EF673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C62523-E077-0526-A800-2D86C493C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30003E-B1A9-6C8F-C1FC-F9787E2D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B82878-57D0-C4AD-6D5E-D0CC96DC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CAF02B-7E12-B53E-A3A9-CF756EA4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090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B3B06-47AC-163D-3C3E-6BA37402A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55A41F-7CB8-CE9E-ADBC-82A8EE7D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7C5B63-1D42-0B3C-E95F-7D81950D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C02A1-CD5E-A308-C068-42234301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755344-A98F-6053-DBE0-CFBD62C8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2586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D6679B-5862-3065-D6CB-2AAB5A52B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BDE940-6F96-A143-4DF7-1D145FD4C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15F95-1366-C42B-C156-ED054ACDD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7F501-F90D-30B9-F75F-7717014C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6B8E2-3237-ED12-3A2A-6042DB0C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4932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B0661-2E69-9ED0-958B-C21AE186F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FDE39D-C1A2-689B-B325-797526F5D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96E785-1953-4D28-1872-D2000D38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D158F-D6D7-8962-F953-64293539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F01614-F1AA-C515-AAAF-074AA019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6309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D38AA-0E2F-AB95-63EF-8B2C15D2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01E87-A882-3697-F914-34EBC30A8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74EA78-7808-0089-0619-C63A21AA3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8AD35-CF02-15C4-D164-B4DDCBC8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33F9D-A0A6-1D15-364B-BDBF303D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8577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C1E66-8612-099F-28D3-932A8EE7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F164CF-AAF0-3BAD-0C60-FB99CA7FC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AA824-9FE5-CC9C-51BB-C6B5D95D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F8180C-F469-EBC3-8806-507AA383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A4F9E-60A1-94AC-6BD9-6219E4C9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2933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1FAE6-5DFB-816B-3C16-825C48A0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5D665-967F-F1D4-6802-7EA3F6DF5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052EA0-F857-84EE-169A-2B628EAEF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CAD010-1650-F71E-3469-8C307409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E0F26D-945A-5A54-52EE-23C774D8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A05575-818E-3662-A1D5-AC0E758E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098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66D7A-AD04-EA8D-DF83-30468ADE8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9F38F8-DB54-31FD-C788-CB2ACB0C4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178C87-8848-B842-8EAA-490CFC81F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BF6A43-03FD-02F8-4391-45D5F20FD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0B637D-C732-8EA7-2C0A-006D8484E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9A82DC-37DF-FF64-B87B-75E6A451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898752-DE67-B175-3975-34D90A41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9EC66F-E083-ED5D-2C7D-8AECAA97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3605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CBF06-8D07-5A4D-94CF-D118EDE9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5B5910-05AB-EC82-C52F-FDDBCF76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B7DE0F-62A7-637A-937F-1E59BFA0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C62BAA-AEF4-32FC-A2F5-B44D6C39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46507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1E7ABE-AD0C-35DF-366E-21D69A48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DDFCF0-5414-7721-0F55-1787AD84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92F883-8FED-07BE-29C6-611AAAAD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887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43C9F-1FBC-7881-D353-815E3878D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2D5DB-2818-D0FC-B95E-3E75627CD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8A89A0-C2D6-5A40-6D9E-99FBC5793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F1456F-8A69-D6A1-2791-FE124B5C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6A645F-AB98-2B43-5E35-1DAC6935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013CD2-8408-F7C1-BDDC-14A7652A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2734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A281F-8FA6-78D8-EC0E-D0FCB4783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99D4F8-3806-BA4F-DB28-B4D5EF673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C62523-E077-0526-A800-2D86C493C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30003E-B1A9-6C8F-C1FC-F9787E2D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B82878-57D0-C4AD-6D5E-D0CC96DC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CAF02B-7E12-B53E-A3A9-CF756EA4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09011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B3B06-47AC-163D-3C3E-6BA37402A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55A41F-7CB8-CE9E-ADBC-82A8EE7D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7C5B63-1D42-0B3C-E95F-7D81950D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C02A1-CD5E-A308-C068-42234301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755344-A98F-6053-DBE0-CFBD62C8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25867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D6679B-5862-3065-D6CB-2AAB5A52B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BDE940-6F96-A143-4DF7-1D145FD4C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15F95-1366-C42B-C156-ED054ACDD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7F501-F90D-30B9-F75F-7717014C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6B8E2-3237-ED12-3A2A-6042DB0C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49322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B0661-2E69-9ED0-958B-C21AE186F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FDE39D-C1A2-689B-B325-797526F5D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96E785-1953-4D28-1872-D2000D38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D158F-D6D7-8962-F953-64293539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F01614-F1AA-C515-AAAF-074AA019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6309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D38AA-0E2F-AB95-63EF-8B2C15D2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01E87-A882-3697-F914-34EBC30A8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74EA78-7808-0089-0619-C63A21AA3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8AD35-CF02-15C4-D164-B4DDCBC8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33F9D-A0A6-1D15-364B-BDBF303D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85779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C1E66-8612-099F-28D3-932A8EE7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F164CF-AAF0-3BAD-0C60-FB99CA7FC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AA824-9FE5-CC9C-51BB-C6B5D95D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F8180C-F469-EBC3-8806-507AA383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A4F9E-60A1-94AC-6BD9-6219E4C9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2933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1FAE6-5DFB-816B-3C16-825C48A0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5D665-967F-F1D4-6802-7EA3F6DF5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052EA0-F857-84EE-169A-2B628EAEF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CAD010-1650-F71E-3469-8C307409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E0F26D-945A-5A54-52EE-23C774D8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A05575-818E-3662-A1D5-AC0E758E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0986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66D7A-AD04-EA8D-DF83-30468ADE8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9F38F8-DB54-31FD-C788-CB2ACB0C4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178C87-8848-B842-8EAA-490CFC81F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BF6A43-03FD-02F8-4391-45D5F20FD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0B637D-C732-8EA7-2C0A-006D8484E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9A82DC-37DF-FF64-B87B-75E6A451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898752-DE67-B175-3975-34D90A41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9EC66F-E083-ED5D-2C7D-8AECAA97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36052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CBF06-8D07-5A4D-94CF-D118EDE9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5B5910-05AB-EC82-C52F-FDDBCF76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B7DE0F-62A7-637A-937F-1E59BFA0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C62BAA-AEF4-32FC-A2F5-B44D6C39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900" name="Dobedub Logo" descr="DOBEDUB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141414"/>
              </a:clrTo>
            </a:clrChange>
          </a:blip>
          <a:stretch>
            <a:fillRect/>
          </a:stretch>
        </p:blipFill>
        <p:spPr>
          <a:xfrm>
            <a:off x="10744200" y="279400"/>
            <a:ext cx="990600" cy="19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507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1E7ABE-AD0C-35DF-366E-21D69A48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DDFCF0-5414-7721-0F55-1787AD84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92F883-8FED-07BE-29C6-611AAAAD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8878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43C9F-1FBC-7881-D353-815E3878D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2D5DB-2818-D0FC-B95E-3E75627CD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8A89A0-C2D6-5A40-6D9E-99FBC5793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F1456F-8A69-D6A1-2791-FE124B5C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6A645F-AB98-2B43-5E35-1DAC6935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013CD2-8408-F7C1-BDDC-14A7652A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27347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A281F-8FA6-78D8-EC0E-D0FCB4783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99D4F8-3806-BA4F-DB28-B4D5EF673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C62523-E077-0526-A800-2D86C493C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30003E-B1A9-6C8F-C1FC-F9787E2D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B82878-57D0-C4AD-6D5E-D0CC96DC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CAF02B-7E12-B53E-A3A9-CF756EA4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09011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B3B06-47AC-163D-3C3E-6BA37402A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55A41F-7CB8-CE9E-ADBC-82A8EE7D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7C5B63-1D42-0B3C-E95F-7D81950D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C02A1-CD5E-A308-C068-42234301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755344-A98F-6053-DBE0-CFBD62C8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25867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D6679B-5862-3065-D6CB-2AAB5A52B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BDE940-6F96-A143-4DF7-1D145FD4C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15F95-1366-C42B-C156-ED054ACDD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7F501-F90D-30B9-F75F-7717014C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6B8E2-3237-ED12-3A2A-6042DB0C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493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D1F3A1-3445-BC01-1BB2-4ADBBF6D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1D719F-7E97-997B-8E76-742EFC7F2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F715E4-6A78-68E2-DE76-FADCE725E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5D7D28-B782-11BB-D3F0-6BB53E439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A94B6-71A2-40E5-CEF2-877FDF967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040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D1F3A1-3445-BC01-1BB2-4ADBBF6D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1D719F-7E97-997B-8E76-742EFC7F2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F715E4-6A78-68E2-DE76-FADCE725E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5D7D28-B782-11BB-D3F0-6BB53E439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A94B6-71A2-40E5-CEF2-877FDF967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040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D1F3A1-3445-BC01-1BB2-4ADBBF6D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1D719F-7E97-997B-8E76-742EFC7F2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F715E4-6A78-68E2-DE76-FADCE725E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DAEBA-3F7B-2442-989B-CD0A21015AA4}" type="datetimeFigureOut">
              <a:rPr kumimoji="1" lang="ko-KR" altLang="en-US" smtClean="0"/>
              <a:t>2026. 10. 6.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5D7D28-B782-11BB-D3F0-6BB53E439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A94B6-71A2-40E5-CEF2-877FDF967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F927E-2DAF-9F4A-BAE0-5A3B9FE0D73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040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1" name="Shape 101"/>
          <p:cNvSpPr/>
          <p:nvPr/>
        </p:nvSpPr>
        <p:spPr>
          <a:xfrm>
            <a:off x="762000" y="1905000"/>
            <a:ext cx="76200" cy="21590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854200"/>
            <a:ext cx="10414000" cy="1524000"/>
          </a:xfrm>
        </p:spPr>
        <p:txBody>
          <a:bodyPr lIns="0" tIns="0" rIns="0" bIns="0" anchor="b">
            <a:normAutofit/>
          </a:bodyPr>
          <a:lstStyle/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b="1" dirty="0">
                <a:solidFill>
                  <a:srgbClr val="FFFFFF"/>
                </a:solidFill>
              </a:rPr>
              <a:t>음악 n차 저작물의 권리 관리를 위한</a:t>
            </a:r>
            <a:endParaRPr lang="ko-KR" altLang="en-US" sz="34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b="1" dirty="0">
                <a:solidFill>
                  <a:srgbClr val="FFFFFF"/>
                </a:solidFill>
              </a:rPr>
              <a:t>도메인 특화 언어 MDRL</a:t>
            </a:r>
            <a:endParaRPr lang="ko-KR" altLang="en-US" sz="3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505200"/>
            <a:ext cx="10414000" cy="6350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D9D9D9"/>
                </a:solidFill>
              </a:rPr>
              <a:t>기존 권리 체계와 충돌이 아닌 확장으로, 파생 권리를 보호하고 투명하게 관리합니다</a:t>
            </a:r>
            <a:endParaRPr lang="ko-KR" altLang="en-US" sz="1800" dirty="0"/>
          </a:p>
        </p:txBody>
      </p:sp>
      <p:pic>
        <p:nvPicPr>
          <p:cNvPr id="950" name="Dobedub Logo" descr="DOBEDU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400"/>
            <a:ext cx="2159000" cy="43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6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MDRL은 기존 권리 체계를 대체하지 않고 확장해,</a:t>
            </a:r>
            <a:br>
              <a:rPr lang="ko-KR" altLang="en-US" sz="2600" b="1" dirty="0">
                <a:solidFill>
                  <a:srgbClr val="141414"/>
                </a:solidFill>
              </a:rPr>
            </a:br>
            <a:r>
              <a:rPr lang="ko-KR" altLang="en-US" sz="2600" b="1" dirty="0">
                <a:solidFill>
                  <a:srgbClr val="141414"/>
                </a:solidFill>
              </a:rPr>
              <a:t>n차 파생 권리를 보호하고 정산을 투명하게 만듭니다</a:t>
            </a:r>
            <a:endParaRPr lang="ko-KR" altLang="en-US" sz="2600" dirty="0"/>
          </a:p>
        </p:txBody>
      </p:sp>
      <p:sp>
        <p:nvSpPr>
          <p:cNvPr id="100" name="Shape 100"/>
          <p:cNvSpPr/>
          <p:nvPr/>
        </p:nvSpPr>
        <p:spPr>
          <a:xfrm>
            <a:off x="457200" y="1625600"/>
            <a:ext cx="2159000" cy="965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문제</a:t>
            </a:r>
            <a:endParaRPr lang="ko-KR" altLang="en-US" sz="1600" dirty="0"/>
          </a:p>
        </p:txBody>
      </p:sp>
      <p:sp>
        <p:nvSpPr>
          <p:cNvPr id="101" name="Shape 101"/>
          <p:cNvSpPr/>
          <p:nvPr/>
        </p:nvSpPr>
        <p:spPr>
          <a:xfrm>
            <a:off x="2692400" y="1625600"/>
            <a:ext cx="9042400" cy="965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dirty="0">
                <a:solidFill>
                  <a:srgbClr val="262626"/>
                </a:solidFill>
              </a:rPr>
              <a:t>보컬 추가</a:t>
            </a:r>
            <a:r>
              <a:rPr lang="en-US" altLang="ko-KR" sz="1600" b="0" dirty="0">
                <a:solidFill>
                  <a:srgbClr val="262626"/>
                </a:solidFill>
              </a:rPr>
              <a:t>/</a:t>
            </a:r>
            <a:r>
              <a:rPr lang="ko-KR" altLang="en-US" sz="1600" b="0" dirty="0">
                <a:solidFill>
                  <a:srgbClr val="262626"/>
                </a:solidFill>
              </a:rPr>
              <a:t>AI 믹스</a:t>
            </a:r>
            <a:r>
              <a:rPr lang="en-US" altLang="ko-KR" sz="1600" b="0" dirty="0">
                <a:solidFill>
                  <a:srgbClr val="262626"/>
                </a:solidFill>
              </a:rPr>
              <a:t>/</a:t>
            </a:r>
            <a:r>
              <a:rPr lang="ko-KR" altLang="en-US" sz="1600" b="0" dirty="0">
                <a:solidFill>
                  <a:srgbClr val="262626"/>
                </a:solidFill>
              </a:rPr>
              <a:t>재이용처럼 원곡을 단계적으로 파생하는 이용에는 </a:t>
            </a:r>
            <a:r>
              <a:rPr lang="ko-KR" altLang="en-US" sz="1600" b="1" dirty="0">
                <a:solidFill>
                  <a:srgbClr val="262626"/>
                </a:solidFill>
              </a:rPr>
              <a:t>허락 범위의 승계, 역할별 안분, 시점, 분쟁 보류</a:t>
            </a:r>
            <a:r>
              <a:rPr lang="ko-KR" altLang="en-US" sz="1600" b="0" dirty="0">
                <a:solidFill>
                  <a:srgbClr val="262626"/>
                </a:solidFill>
              </a:rPr>
              <a:t>를 계산하는 층이 현행 체계에 없습니다.</a:t>
            </a:r>
            <a:endParaRPr lang="ko-KR" altLang="en-US" sz="1600" dirty="0"/>
          </a:p>
        </p:txBody>
      </p:sp>
      <p:sp>
        <p:nvSpPr>
          <p:cNvPr id="102" name="Shape 102"/>
          <p:cNvSpPr/>
          <p:nvPr/>
        </p:nvSpPr>
        <p:spPr>
          <a:xfrm>
            <a:off x="457200" y="2743200"/>
            <a:ext cx="2159000" cy="965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해법</a:t>
            </a:r>
            <a:endParaRPr lang="ko-KR" altLang="en-US" sz="1600" dirty="0"/>
          </a:p>
        </p:txBody>
      </p:sp>
      <p:sp>
        <p:nvSpPr>
          <p:cNvPr id="103" name="Shape 103"/>
          <p:cNvSpPr/>
          <p:nvPr/>
        </p:nvSpPr>
        <p:spPr>
          <a:xfrm>
            <a:off x="2692400" y="2743200"/>
            <a:ext cx="9042400" cy="965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262626"/>
                </a:solidFill>
              </a:rPr>
              <a:t>MDRL(음악 파생 권리 언어)</a:t>
            </a:r>
            <a:r>
              <a:rPr lang="ko-KR" altLang="en-US" sz="1600" b="0" dirty="0">
                <a:solidFill>
                  <a:srgbClr val="262626"/>
                </a:solidFill>
              </a:rPr>
              <a:t>은 권리 사실</a:t>
            </a:r>
            <a:r>
              <a:rPr lang="en-US" altLang="ko-KR" sz="1600" b="0" dirty="0">
                <a:solidFill>
                  <a:srgbClr val="262626"/>
                </a:solidFill>
              </a:rPr>
              <a:t>/</a:t>
            </a:r>
            <a:r>
              <a:rPr lang="ko-KR" altLang="en-US" sz="1600" b="0" dirty="0">
                <a:solidFill>
                  <a:srgbClr val="262626"/>
                </a:solidFill>
              </a:rPr>
              <a:t>이용허락</a:t>
            </a:r>
            <a:r>
              <a:rPr lang="en-US" altLang="ko-KR" sz="1600" b="0" dirty="0">
                <a:solidFill>
                  <a:srgbClr val="262626"/>
                </a:solidFill>
              </a:rPr>
              <a:t>/</a:t>
            </a:r>
            <a:r>
              <a:rPr lang="ko-KR" altLang="en-US" sz="1600" b="0" dirty="0">
                <a:solidFill>
                  <a:srgbClr val="262626"/>
                </a:solidFill>
              </a:rPr>
              <a:t>수익 안분을 개방형 언어로 기술하고, 누가 언제 계산해도 같은 결과를 </a:t>
            </a:r>
            <a:r>
              <a:rPr lang="ko-KR" altLang="en-US" sz="1600" b="1" dirty="0">
                <a:solidFill>
                  <a:srgbClr val="262626"/>
                </a:solidFill>
              </a:rPr>
              <a:t>1원 단위까지 재현</a:t>
            </a:r>
            <a:r>
              <a:rPr lang="ko-KR" altLang="en-US" sz="1600" b="0" dirty="0">
                <a:solidFill>
                  <a:srgbClr val="262626"/>
                </a:solidFill>
              </a:rPr>
              <a:t>합니다.</a:t>
            </a:r>
            <a:endParaRPr lang="ko-KR" altLang="en-US" sz="1600" dirty="0"/>
          </a:p>
        </p:txBody>
      </p:sp>
      <p:sp>
        <p:nvSpPr>
          <p:cNvPr id="104" name="Shape 104"/>
          <p:cNvSpPr/>
          <p:nvPr/>
        </p:nvSpPr>
        <p:spPr>
          <a:xfrm>
            <a:off x="457200" y="3860800"/>
            <a:ext cx="2159000" cy="9652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기존 체계와의 관계</a:t>
            </a:r>
            <a:endParaRPr lang="ko-KR" altLang="en-US" sz="1600" dirty="0"/>
          </a:p>
        </p:txBody>
      </p:sp>
      <p:sp>
        <p:nvSpPr>
          <p:cNvPr id="105" name="Shape 105"/>
          <p:cNvSpPr/>
          <p:nvPr/>
        </p:nvSpPr>
        <p:spPr>
          <a:xfrm>
            <a:off x="2692400" y="3860800"/>
            <a:ext cx="9042400" cy="9652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262626"/>
                </a:solidFill>
              </a:rPr>
              <a:t>대체가 아닌 확장</a:t>
            </a:r>
            <a:r>
              <a:rPr lang="ko-KR" altLang="en-US" sz="1600" b="0" dirty="0">
                <a:solidFill>
                  <a:srgbClr val="262626"/>
                </a:solidFill>
              </a:rPr>
              <a:t>입니다. 신탁관리, ISWC</a:t>
            </a:r>
            <a:r>
              <a:rPr lang="en-US" altLang="ko-KR" sz="1600" b="0" dirty="0">
                <a:solidFill>
                  <a:srgbClr val="262626"/>
                </a:solidFill>
              </a:rPr>
              <a:t>/</a:t>
            </a:r>
            <a:r>
              <a:rPr lang="ko-KR" altLang="en-US" sz="1600" b="0" dirty="0">
                <a:solidFill>
                  <a:srgbClr val="262626"/>
                </a:solidFill>
              </a:rPr>
              <a:t>ISRC, CWR</a:t>
            </a:r>
            <a:r>
              <a:rPr lang="en-US" altLang="ko-KR" sz="1600" b="0" dirty="0">
                <a:solidFill>
                  <a:srgbClr val="262626"/>
                </a:solidFill>
              </a:rPr>
              <a:t>/</a:t>
            </a:r>
            <a:r>
              <a:rPr lang="ko-KR" altLang="en-US" sz="1600" b="0" dirty="0" err="1">
                <a:solidFill>
                  <a:srgbClr val="262626"/>
                </a:solidFill>
              </a:rPr>
              <a:t>DDEX를</a:t>
            </a:r>
            <a:r>
              <a:rPr lang="ko-KR" altLang="en-US" sz="1600" b="0" dirty="0">
                <a:solidFill>
                  <a:srgbClr val="262626"/>
                </a:solidFill>
              </a:rPr>
              <a:t> 그대로 쓰고, 연동 어댑터는 형식 변환만 합니다. 저작물 성립</a:t>
            </a:r>
            <a:r>
              <a:rPr lang="en-US" altLang="ko-KR" sz="1600" b="0" dirty="0">
                <a:solidFill>
                  <a:srgbClr val="262626"/>
                </a:solidFill>
              </a:rPr>
              <a:t>/</a:t>
            </a:r>
            <a:r>
              <a:rPr lang="ko-KR" altLang="en-US" sz="1600" b="0" dirty="0">
                <a:solidFill>
                  <a:srgbClr val="262626"/>
                </a:solidFill>
              </a:rPr>
              <a:t>요율은 판정하지 않습니다.</a:t>
            </a:r>
            <a:endParaRPr lang="ko-KR" altLang="en-US" sz="1600" dirty="0"/>
          </a:p>
        </p:txBody>
      </p:sp>
      <p:sp>
        <p:nvSpPr>
          <p:cNvPr id="106" name="Shape 106"/>
          <p:cNvSpPr/>
          <p:nvPr/>
        </p:nvSpPr>
        <p:spPr>
          <a:xfrm>
            <a:off x="457200" y="4978400"/>
            <a:ext cx="2159000" cy="965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제안</a:t>
            </a:r>
            <a:endParaRPr lang="ko-KR" altLang="en-US" sz="1600" dirty="0"/>
          </a:p>
        </p:txBody>
      </p:sp>
      <p:sp>
        <p:nvSpPr>
          <p:cNvPr id="107" name="Shape 107"/>
          <p:cNvSpPr/>
          <p:nvPr/>
        </p:nvSpPr>
        <p:spPr>
          <a:xfrm>
            <a:off x="2692400" y="4978400"/>
            <a:ext cx="9042400" cy="965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dirty="0">
                <a:solidFill>
                  <a:srgbClr val="262626"/>
                </a:solidFill>
              </a:rPr>
              <a:t>관리단체</a:t>
            </a:r>
            <a:r>
              <a:rPr lang="en-US" altLang="ko-KR" sz="1600" b="0" dirty="0">
                <a:solidFill>
                  <a:srgbClr val="262626"/>
                </a:solidFill>
              </a:rPr>
              <a:t>/</a:t>
            </a:r>
            <a:r>
              <a:rPr lang="ko-KR" altLang="en-US" sz="1600" b="0" dirty="0">
                <a:solidFill>
                  <a:srgbClr val="262626"/>
                </a:solidFill>
              </a:rPr>
              <a:t>플랫폼과 </a:t>
            </a:r>
            <a:r>
              <a:rPr lang="ko-KR" altLang="en-US" sz="1600" b="1" dirty="0">
                <a:solidFill>
                  <a:srgbClr val="262626"/>
                </a:solidFill>
              </a:rPr>
              <a:t>창작 모드별 프로파일 공동 작성</a:t>
            </a:r>
            <a:r>
              <a:rPr lang="ko-KR" altLang="en-US" sz="1600" b="0" dirty="0">
                <a:solidFill>
                  <a:srgbClr val="262626"/>
                </a:solidFill>
              </a:rPr>
              <a:t>과 </a:t>
            </a:r>
            <a:r>
              <a:rPr lang="ko-KR" altLang="en-US" sz="1600" b="1" dirty="0">
                <a:solidFill>
                  <a:srgbClr val="262626"/>
                </a:solidFill>
              </a:rPr>
              <a:t>기존 시스템 시범 연동</a:t>
            </a:r>
            <a:r>
              <a:rPr lang="ko-KR" altLang="en-US" sz="1600" b="0" dirty="0">
                <a:solidFill>
                  <a:srgbClr val="262626"/>
                </a:solidFill>
              </a:rPr>
              <a:t>을 제안합니다.</a:t>
            </a:r>
            <a:endParaRPr lang="ko-KR" altLang="en-US" sz="1600" dirty="0"/>
          </a:p>
        </p:txBody>
      </p:sp>
      <p:sp>
        <p:nvSpPr>
          <p:cNvPr id="108" name="Source"/>
          <p:cNvSpPr txBox="1"/>
          <p:nvPr/>
        </p:nvSpPr>
        <p:spPr>
          <a:xfrm>
            <a:off x="457200" y="5892800"/>
            <a:ext cx="11277600" cy="736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ko-KR" sz="1000" b="1" dirty="0">
                <a:solidFill>
                  <a:srgbClr val="7F7F7F"/>
                </a:solidFill>
              </a:rPr>
              <a:t>MDRL</a:t>
            </a:r>
            <a:r>
              <a:rPr lang="ko-KR" sz="1000" dirty="0">
                <a:solidFill>
                  <a:srgbClr val="7F7F7F"/>
                </a:solidFill>
              </a:rPr>
              <a:t> Music Derivative Rights Language(음악 파생 권리 언어)</a:t>
            </a:r>
            <a:r>
              <a:rPr lang="ko-KR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sz="1000" b="1" dirty="0">
                <a:solidFill>
                  <a:srgbClr val="7F7F7F"/>
                </a:solidFill>
              </a:rPr>
              <a:t>  ISWC</a:t>
            </a:r>
            <a:r>
              <a:rPr lang="ko-KR" sz="1000" dirty="0">
                <a:solidFill>
                  <a:srgbClr val="7F7F7F"/>
                </a:solidFill>
              </a:rPr>
              <a:t> International Standard Musical Work Code(국제 표준 음악 작품 코드)</a:t>
            </a:r>
            <a:r>
              <a:rPr lang="ko-KR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sz="1000" b="1" dirty="0">
                <a:solidFill>
                  <a:srgbClr val="7F7F7F"/>
                </a:solidFill>
              </a:rPr>
              <a:t>  ISRC</a:t>
            </a:r>
            <a:r>
              <a:rPr lang="ko-KR" sz="1000" dirty="0">
                <a:solidFill>
                  <a:srgbClr val="7F7F7F"/>
                </a:solidFill>
              </a:rPr>
              <a:t> International Standard Recording Code(국제 표준 녹음 코드)</a:t>
            </a:r>
            <a:r>
              <a:rPr lang="ko-KR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sz="1000" b="1" dirty="0">
                <a:solidFill>
                  <a:srgbClr val="7F7F7F"/>
                </a:solidFill>
              </a:rPr>
              <a:t>  CWR</a:t>
            </a:r>
            <a:r>
              <a:rPr lang="ko-KR" sz="1000" dirty="0">
                <a:solidFill>
                  <a:srgbClr val="7F7F7F"/>
                </a:solidFill>
              </a:rPr>
              <a:t> Common Works Registration(공통 작품 등록)</a:t>
            </a:r>
            <a:r>
              <a:rPr lang="ko-KR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sz="1000" b="1" dirty="0">
                <a:solidFill>
                  <a:srgbClr val="7F7F7F"/>
                </a:solidFill>
              </a:rPr>
              <a:t>  DDEX</a:t>
            </a:r>
            <a:r>
              <a:rPr lang="ko-KR" sz="1000" dirty="0">
                <a:solidFill>
                  <a:srgbClr val="7F7F7F"/>
                </a:solidFill>
              </a:rPr>
              <a:t> Digital Data Exchange(디지털 데이터 교환)</a:t>
            </a:r>
          </a:p>
        </p:txBody>
      </p:sp>
      <p:sp>
        <p:nvSpPr>
          <p:cNvPr id="12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ko-KR" altLang="en-US" sz="1400" b="1" dirty="0">
                <a:solidFill>
                  <a:srgbClr val="EC1F28"/>
                </a:solidFill>
              </a:rPr>
              <a:t>요약  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136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한 곡에는 작품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실연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음반 세 겹의 권리가 있어,</a:t>
            </a:r>
            <a:endParaRPr lang="ko-KR" altLang="en-US" sz="260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보컬 하나만 바꿔도 여러 허락이 필요합니다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01  배경 및 필요성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651000"/>
            <a:ext cx="3657600" cy="50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저작권 (작품)</a:t>
            </a:r>
            <a:endParaRPr lang="ko-KR" altLang="en-US" sz="1700" dirty="0"/>
          </a:p>
        </p:txBody>
      </p:sp>
      <p:sp>
        <p:nvSpPr>
          <p:cNvPr id="102" name="Shape 102"/>
          <p:cNvSpPr/>
          <p:nvPr/>
        </p:nvSpPr>
        <p:spPr>
          <a:xfrm>
            <a:off x="457200" y="2159000"/>
            <a:ext cx="3657600" cy="2413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27000" rIns="177800" bIns="127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권리</a:t>
            </a:r>
            <a:endParaRPr lang="ko-KR" alt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262626"/>
                </a:solidFill>
              </a:rPr>
              <a:t>복제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공연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공중 송신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배포, </a:t>
            </a:r>
            <a:r>
              <a:rPr lang="ko-KR" altLang="en-US" sz="1500" b="1" dirty="0">
                <a:solidFill>
                  <a:srgbClr val="262626"/>
                </a:solidFill>
              </a:rPr>
              <a:t>2차적저작물 작성권</a:t>
            </a:r>
            <a:r>
              <a:rPr lang="ko-KR" altLang="en-US" sz="1500" b="0" dirty="0">
                <a:solidFill>
                  <a:srgbClr val="262626"/>
                </a:solidFill>
              </a:rPr>
              <a:t>, 저작인격권</a:t>
            </a:r>
            <a:endParaRPr lang="ko-KR" altLang="en-US" sz="15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주체</a:t>
            </a:r>
            <a:endParaRPr lang="ko-KR" alt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262626"/>
                </a:solidFill>
              </a:rPr>
              <a:t>작사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작곡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 err="1">
                <a:solidFill>
                  <a:srgbClr val="262626"/>
                </a:solidFill>
              </a:rPr>
              <a:t>편곡자</a:t>
            </a:r>
            <a:r>
              <a:rPr lang="ko-KR" altLang="en-US" sz="1500" b="0" dirty="0">
                <a:solidFill>
                  <a:srgbClr val="262626"/>
                </a:solidFill>
              </a:rPr>
              <a:t>, 음악출판사</a:t>
            </a:r>
            <a:endParaRPr lang="ko-KR" altLang="en-US" sz="15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관리 단체</a:t>
            </a:r>
            <a:endParaRPr lang="ko-KR" alt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262626"/>
                </a:solidFill>
              </a:rPr>
              <a:t>한국음악저작권협회, 함께하는음악저작인협회</a:t>
            </a:r>
            <a:endParaRPr lang="ko-KR" altLang="en-US" sz="1500" dirty="0"/>
          </a:p>
        </p:txBody>
      </p:sp>
      <p:sp>
        <p:nvSpPr>
          <p:cNvPr id="103" name="Shape 103"/>
          <p:cNvSpPr/>
          <p:nvPr/>
        </p:nvSpPr>
        <p:spPr>
          <a:xfrm>
            <a:off x="4267200" y="1651000"/>
            <a:ext cx="3657600" cy="50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저작인접권 (실연)</a:t>
            </a:r>
            <a:endParaRPr lang="ko-KR" altLang="en-US" sz="1700" dirty="0"/>
          </a:p>
        </p:txBody>
      </p:sp>
      <p:sp>
        <p:nvSpPr>
          <p:cNvPr id="104" name="Shape 104"/>
          <p:cNvSpPr/>
          <p:nvPr/>
        </p:nvSpPr>
        <p:spPr>
          <a:xfrm>
            <a:off x="4267200" y="2159000"/>
            <a:ext cx="3657600" cy="2413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27000" rIns="177800" bIns="127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권리</a:t>
            </a:r>
            <a:endParaRPr lang="ko-KR" alt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262626"/>
                </a:solidFill>
              </a:rPr>
              <a:t>복제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배포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 err="1">
                <a:solidFill>
                  <a:srgbClr val="262626"/>
                </a:solidFill>
              </a:rPr>
              <a:t>전송권</a:t>
            </a:r>
            <a:r>
              <a:rPr lang="ko-KR" altLang="en-US" sz="1500" b="0" dirty="0">
                <a:solidFill>
                  <a:srgbClr val="262626"/>
                </a:solidFill>
              </a:rPr>
              <a:t>, 방송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디지털 음성 송신 보상청구권</a:t>
            </a:r>
            <a:endParaRPr lang="ko-KR" altLang="en-US" sz="15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주체</a:t>
            </a:r>
            <a:endParaRPr lang="ko-KR" alt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262626"/>
                </a:solidFill>
              </a:rPr>
              <a:t>주실연자, 부실연자(코러스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세션)</a:t>
            </a:r>
            <a:endParaRPr lang="ko-KR" altLang="en-US" sz="15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관리 단체</a:t>
            </a:r>
            <a:endParaRPr lang="ko-KR" alt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262626"/>
                </a:solidFill>
              </a:rPr>
              <a:t>한국음악실연자연합회</a:t>
            </a:r>
            <a:endParaRPr lang="ko-KR" altLang="en-US" sz="1500" dirty="0"/>
          </a:p>
        </p:txBody>
      </p:sp>
      <p:sp>
        <p:nvSpPr>
          <p:cNvPr id="105" name="Shape 105"/>
          <p:cNvSpPr/>
          <p:nvPr/>
        </p:nvSpPr>
        <p:spPr>
          <a:xfrm>
            <a:off x="8077200" y="1651000"/>
            <a:ext cx="3657600" cy="50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저작인접권 (음반)</a:t>
            </a:r>
            <a:endParaRPr lang="ko-KR" altLang="en-US" sz="1700" dirty="0"/>
          </a:p>
        </p:txBody>
      </p:sp>
      <p:sp>
        <p:nvSpPr>
          <p:cNvPr id="106" name="Shape 106"/>
          <p:cNvSpPr/>
          <p:nvPr/>
        </p:nvSpPr>
        <p:spPr>
          <a:xfrm>
            <a:off x="8077200" y="2159000"/>
            <a:ext cx="3657600" cy="2413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27000" rIns="177800" bIns="127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권리</a:t>
            </a:r>
            <a:endParaRPr lang="ko-KR" alt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262626"/>
                </a:solidFill>
              </a:rPr>
              <a:t>복제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배포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 err="1">
                <a:solidFill>
                  <a:srgbClr val="262626"/>
                </a:solidFill>
              </a:rPr>
              <a:t>전송권</a:t>
            </a:r>
            <a:r>
              <a:rPr lang="ko-KR" altLang="en-US" sz="1500" b="0" dirty="0">
                <a:solidFill>
                  <a:srgbClr val="262626"/>
                </a:solidFill>
              </a:rPr>
              <a:t>, 보상청구권 (멀티트랙은 마스터의 구성요소)</a:t>
            </a:r>
            <a:endParaRPr lang="ko-KR" altLang="en-US" sz="15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주체</a:t>
            </a:r>
            <a:endParaRPr lang="ko-KR" alt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262626"/>
                </a:solidFill>
              </a:rPr>
              <a:t>음반제작사, 레이블(마스터 권리자)</a:t>
            </a:r>
            <a:endParaRPr lang="ko-KR" altLang="en-US" sz="15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관리 단체</a:t>
            </a:r>
            <a:endParaRPr lang="ko-KR" alt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262626"/>
                </a:solidFill>
              </a:rPr>
              <a:t>한국음반산업협회</a:t>
            </a:r>
            <a:endParaRPr lang="ko-KR" altLang="en-US" sz="1500" dirty="0"/>
          </a:p>
        </p:txBody>
      </p:sp>
      <p:sp>
        <p:nvSpPr>
          <p:cNvPr id="107" name="Shape 107"/>
          <p:cNvSpPr txBox="1"/>
          <p:nvPr/>
        </p:nvSpPr>
        <p:spPr>
          <a:xfrm>
            <a:off x="457200" y="47752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보컬 트랙 하나를 바꾸거나 더할 때 필요한 허락</a:t>
            </a:r>
            <a:endParaRPr lang="ko-KR" altLang="en-US" sz="1600" dirty="0"/>
          </a:p>
        </p:txBody>
      </p:sp>
      <p:sp>
        <p:nvSpPr>
          <p:cNvPr id="108" name="Shape 108"/>
          <p:cNvSpPr/>
          <p:nvPr/>
        </p:nvSpPr>
        <p:spPr>
          <a:xfrm>
            <a:off x="457200" y="5156200"/>
            <a:ext cx="2438400" cy="762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EC1F2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EC1F28"/>
                </a:solidFill>
              </a:rPr>
              <a:t>작품</a:t>
            </a:r>
            <a:endParaRPr lang="ko-KR" altLang="en-US" sz="16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595959"/>
                </a:solidFill>
              </a:rPr>
              <a:t>(2차적 이용)</a:t>
            </a:r>
            <a:endParaRPr lang="ko-KR" altLang="en-US" sz="1400" dirty="0"/>
          </a:p>
        </p:txBody>
      </p:sp>
      <p:sp>
        <p:nvSpPr>
          <p:cNvPr id="109" name="Shape 109"/>
          <p:cNvSpPr/>
          <p:nvPr/>
        </p:nvSpPr>
        <p:spPr>
          <a:xfrm>
            <a:off x="2895600" y="53594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7F7F7F"/>
                </a:solidFill>
              </a:rPr>
              <a:t>+</a:t>
            </a:r>
            <a:endParaRPr lang="ko-KR" altLang="en-US" sz="2000" dirty="0"/>
          </a:p>
        </p:txBody>
      </p:sp>
      <p:sp>
        <p:nvSpPr>
          <p:cNvPr id="110" name="Shape 110"/>
          <p:cNvSpPr/>
          <p:nvPr/>
        </p:nvSpPr>
        <p:spPr>
          <a:xfrm>
            <a:off x="3403600" y="5156200"/>
            <a:ext cx="2438400" cy="762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EC1F2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EC1F28"/>
                </a:solidFill>
              </a:rPr>
              <a:t>원 녹음</a:t>
            </a:r>
            <a:endParaRPr lang="ko-KR" altLang="en-US" sz="16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595959"/>
                </a:solidFill>
              </a:rPr>
              <a:t>(마스터)</a:t>
            </a:r>
            <a:endParaRPr lang="ko-KR" altLang="en-US" sz="1400" dirty="0"/>
          </a:p>
        </p:txBody>
      </p:sp>
      <p:sp>
        <p:nvSpPr>
          <p:cNvPr id="111" name="Shape 111"/>
          <p:cNvSpPr/>
          <p:nvPr/>
        </p:nvSpPr>
        <p:spPr>
          <a:xfrm>
            <a:off x="5842000" y="53594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7F7F7F"/>
                </a:solidFill>
              </a:rPr>
              <a:t>+</a:t>
            </a:r>
            <a:endParaRPr lang="ko-KR" altLang="en-US" sz="2000" dirty="0"/>
          </a:p>
        </p:txBody>
      </p:sp>
      <p:sp>
        <p:nvSpPr>
          <p:cNvPr id="112" name="Shape 112"/>
          <p:cNvSpPr/>
          <p:nvPr/>
        </p:nvSpPr>
        <p:spPr>
          <a:xfrm>
            <a:off x="6350000" y="5156200"/>
            <a:ext cx="2438400" cy="762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EC1F2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EC1F28"/>
                </a:solidFill>
              </a:rPr>
              <a:t>원 실연</a:t>
            </a:r>
            <a:endParaRPr lang="ko-KR" altLang="en-US" sz="16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595959"/>
                </a:solidFill>
              </a:rPr>
              <a:t>(원 보컬</a:t>
            </a:r>
            <a:r>
              <a:rPr lang="en-US" altLang="ko-KR" sz="1400" b="0" dirty="0">
                <a:solidFill>
                  <a:srgbClr val="595959"/>
                </a:solidFill>
              </a:rPr>
              <a:t>/</a:t>
            </a:r>
            <a:r>
              <a:rPr lang="ko-KR" altLang="en-US" sz="1400" b="0" dirty="0">
                <a:solidFill>
                  <a:srgbClr val="595959"/>
                </a:solidFill>
              </a:rPr>
              <a:t>코러스)</a:t>
            </a:r>
            <a:endParaRPr lang="ko-KR" altLang="en-US" sz="1400" dirty="0"/>
          </a:p>
        </p:txBody>
      </p:sp>
      <p:sp>
        <p:nvSpPr>
          <p:cNvPr id="113" name="Shape 113"/>
          <p:cNvSpPr/>
          <p:nvPr/>
        </p:nvSpPr>
        <p:spPr>
          <a:xfrm>
            <a:off x="8788400" y="53594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7F7F7F"/>
                </a:solidFill>
              </a:rPr>
              <a:t>+</a:t>
            </a:r>
            <a:endParaRPr lang="ko-KR" altLang="en-US" sz="2000" dirty="0"/>
          </a:p>
        </p:txBody>
      </p:sp>
      <p:sp>
        <p:nvSpPr>
          <p:cNvPr id="114" name="Shape 114"/>
          <p:cNvSpPr/>
          <p:nvPr/>
        </p:nvSpPr>
        <p:spPr>
          <a:xfrm>
            <a:off x="9296400" y="5156200"/>
            <a:ext cx="2438400" cy="762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EC1F2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EC1F28"/>
                </a:solidFill>
              </a:rPr>
              <a:t>신규 실연</a:t>
            </a:r>
            <a:endParaRPr lang="ko-KR" altLang="en-US" sz="16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595959"/>
                </a:solidFill>
              </a:rPr>
              <a:t>(추가 보컬)</a:t>
            </a:r>
            <a:endParaRPr lang="ko-KR" altLang="en-US" sz="1400" dirty="0"/>
          </a:p>
        </p:txBody>
      </p:sp>
      <p:sp>
        <p:nvSpPr>
          <p:cNvPr id="115" name="Source"/>
          <p:cNvSpPr txBox="1"/>
          <p:nvPr/>
        </p:nvSpPr>
        <p:spPr>
          <a:xfrm>
            <a:off x="457200" y="62738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허락은 행위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지역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매체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기간의 범위 안에서만 유효하며, 2차적저작물의 성립은 법적 판단의 문제입니다.  출처: 저작권법 제5조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제22조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제46조(국가법령정보센터), 한국저작권위원회 신탁관리단체 목록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5347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n차 창작은 단계마다 권리자와 허락 조건이 늘어나,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결과물 하나에 여러 권리 관계가 겹칩니다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01  배경 및 필요성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625600"/>
            <a:ext cx="2628900" cy="736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1차  원곡</a:t>
            </a:r>
            <a:endParaRPr lang="ko-KR" altLang="en-US" sz="17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</a:rPr>
              <a:t>작품 W001 </a:t>
            </a:r>
            <a:r>
              <a:rPr lang="en-US" altLang="ko-KR" sz="1300" b="0" dirty="0">
                <a:solidFill>
                  <a:srgbClr val="D9D9D9"/>
                </a:solidFill>
              </a:rPr>
              <a:t>/</a:t>
            </a:r>
            <a:r>
              <a:rPr lang="ko-KR" altLang="en-US" sz="1300" b="0" dirty="0">
                <a:solidFill>
                  <a:srgbClr val="D9D9D9"/>
                </a:solidFill>
              </a:rPr>
              <a:t> 녹음 R001</a:t>
            </a:r>
            <a:endParaRPr lang="ko-KR" altLang="en-US" sz="1300" dirty="0"/>
          </a:p>
        </p:txBody>
      </p:sp>
      <p:sp>
        <p:nvSpPr>
          <p:cNvPr id="102" name="Shape 102"/>
          <p:cNvSpPr/>
          <p:nvPr/>
        </p:nvSpPr>
        <p:spPr>
          <a:xfrm>
            <a:off x="457200" y="2362200"/>
            <a:ext cx="2628900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작곡 A 60%, 작사 B 40%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B는 수령을 단체 C에 위임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마스터: 제작자 L 100%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실연: 보컬 V1, 코러스 V2</a:t>
            </a:r>
            <a:endParaRPr lang="ko-KR" altLang="en-US" sz="1500" dirty="0"/>
          </a:p>
        </p:txBody>
      </p:sp>
      <p:cxnSp>
        <p:nvCxnSpPr>
          <p:cNvPr id="103" name="Line 103"/>
          <p:cNvCxnSpPr/>
          <p:nvPr/>
        </p:nvCxnSpPr>
        <p:spPr>
          <a:xfrm>
            <a:off x="3111500" y="1993900"/>
            <a:ext cx="2032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04" name="Shape 104"/>
          <p:cNvSpPr/>
          <p:nvPr/>
        </p:nvSpPr>
        <p:spPr>
          <a:xfrm>
            <a:off x="3340100" y="1625600"/>
            <a:ext cx="2628900" cy="7366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2차  보컬 추가 녹음</a:t>
            </a:r>
            <a:endParaRPr lang="ko-KR" altLang="en-US" sz="17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</a:rPr>
              <a:t>녹음 R002 (제작사 N)</a:t>
            </a:r>
            <a:endParaRPr lang="ko-KR" altLang="en-US" sz="1300" dirty="0"/>
          </a:p>
        </p:txBody>
      </p:sp>
      <p:sp>
        <p:nvSpPr>
          <p:cNvPr id="105" name="Shape 105"/>
          <p:cNvSpPr/>
          <p:nvPr/>
        </p:nvSpPr>
        <p:spPr>
          <a:xfrm>
            <a:off x="3340100" y="2362200"/>
            <a:ext cx="2628900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신규 보컬 V3가 R001 위에 녹음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V3는 </a:t>
            </a:r>
            <a:r>
              <a:rPr lang="ko-KR" altLang="en-US" sz="1500" b="1" dirty="0">
                <a:solidFill>
                  <a:srgbClr val="262626"/>
                </a:solidFill>
              </a:rPr>
              <a:t>국내 앱</a:t>
            </a:r>
            <a:r>
              <a:rPr lang="ko-KR" altLang="en-US" sz="1500" b="0" dirty="0">
                <a:solidFill>
                  <a:srgbClr val="262626"/>
                </a:solidFill>
              </a:rPr>
              <a:t>만 허락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매출 e1: 소장권 10,000원</a:t>
            </a:r>
            <a:endParaRPr lang="ko-KR" altLang="en-US" sz="1500" dirty="0"/>
          </a:p>
        </p:txBody>
      </p:sp>
      <p:cxnSp>
        <p:nvCxnSpPr>
          <p:cNvPr id="106" name="Line 106"/>
          <p:cNvCxnSpPr/>
          <p:nvPr/>
        </p:nvCxnSpPr>
        <p:spPr>
          <a:xfrm>
            <a:off x="5994400" y="1993900"/>
            <a:ext cx="2032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07" name="Shape 107"/>
          <p:cNvSpPr/>
          <p:nvPr/>
        </p:nvSpPr>
        <p:spPr>
          <a:xfrm>
            <a:off x="6223000" y="1625600"/>
            <a:ext cx="2628900" cy="7366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3차  AI 믹스</a:t>
            </a:r>
            <a:endParaRPr lang="ko-KR" altLang="en-US" sz="17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</a:rPr>
              <a:t>결과물 X001</a:t>
            </a:r>
            <a:endParaRPr lang="ko-KR" altLang="en-US" sz="1300" dirty="0"/>
          </a:p>
        </p:txBody>
      </p:sp>
      <p:sp>
        <p:nvSpPr>
          <p:cNvPr id="108" name="Shape 108"/>
          <p:cNvSpPr/>
          <p:nvPr/>
        </p:nvSpPr>
        <p:spPr>
          <a:xfrm>
            <a:off x="6223000" y="2362200"/>
            <a:ext cx="2628900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엔지니어 E가 AI 모델로 가공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모델 운영자 Q는 </a:t>
            </a:r>
            <a:r>
              <a:rPr lang="ko-KR" altLang="en-US" sz="1500" b="1" dirty="0">
                <a:solidFill>
                  <a:srgbClr val="262626"/>
                </a:solidFill>
              </a:rPr>
              <a:t>계약 비율</a:t>
            </a:r>
            <a:r>
              <a:rPr lang="ko-KR" altLang="en-US" sz="1500" b="0" dirty="0">
                <a:solidFill>
                  <a:srgbClr val="262626"/>
                </a:solidFill>
              </a:rPr>
              <a:t>로 대가 수령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학습 허락과 생성 허락은 별개</a:t>
            </a:r>
            <a:endParaRPr lang="ko-KR" altLang="en-US" sz="1500" dirty="0"/>
          </a:p>
        </p:txBody>
      </p:sp>
      <p:cxnSp>
        <p:nvCxnSpPr>
          <p:cNvPr id="109" name="Line 109"/>
          <p:cNvCxnSpPr/>
          <p:nvPr/>
        </p:nvCxnSpPr>
        <p:spPr>
          <a:xfrm>
            <a:off x="8877300" y="1993900"/>
            <a:ext cx="2032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10" name="Shape 110"/>
          <p:cNvSpPr/>
          <p:nvPr/>
        </p:nvSpPr>
        <p:spPr>
          <a:xfrm>
            <a:off x="9105900" y="1625600"/>
            <a:ext cx="2628900" cy="7366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4차  재이용(재판매)</a:t>
            </a:r>
            <a:endParaRPr lang="ko-KR" altLang="en-US" sz="17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</a:rPr>
              <a:t>매출 e2 20,000원</a:t>
            </a:r>
            <a:endParaRPr lang="ko-KR" altLang="en-US" sz="1300" dirty="0"/>
          </a:p>
        </p:txBody>
      </p:sp>
      <p:sp>
        <p:nvSpPr>
          <p:cNvPr id="111" name="Shape 111"/>
          <p:cNvSpPr/>
          <p:nvPr/>
        </p:nvSpPr>
        <p:spPr>
          <a:xfrm>
            <a:off x="9105900" y="2362200"/>
            <a:ext cx="2628900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로열티 5%(1,000원)만 원 권리자 몫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이후 마스터 L→L2 이전 확인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A의 작품 지분에 이의 제기</a:t>
            </a:r>
            <a:endParaRPr lang="ko-KR" altLang="en-US" sz="1500" dirty="0"/>
          </a:p>
        </p:txBody>
      </p:sp>
      <p:sp>
        <p:nvSpPr>
          <p:cNvPr id="112" name="Shape 112"/>
          <p:cNvSpPr txBox="1"/>
          <p:nvPr/>
        </p:nvSpPr>
        <p:spPr>
          <a:xfrm>
            <a:off x="457200" y="4851400"/>
            <a:ext cx="1127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X001 하나에 대해 답해야 하는 질문</a:t>
            </a:r>
            <a:endParaRPr lang="ko-KR" altLang="en-US" sz="1600" dirty="0"/>
          </a:p>
        </p:txBody>
      </p:sp>
      <p:sp>
        <p:nvSpPr>
          <p:cNvPr id="113" name="Shape 113"/>
          <p:cNvSpPr/>
          <p:nvPr/>
        </p:nvSpPr>
        <p:spPr>
          <a:xfrm>
            <a:off x="457200" y="5232400"/>
            <a:ext cx="2628900" cy="736600"/>
          </a:xfrm>
          <a:prstGeom prst="rect">
            <a:avLst/>
          </a:prstGeom>
          <a:noFill/>
          <a:ln w="12700">
            <a:solidFill>
              <a:srgbClr val="EC1F28"/>
            </a:solidFill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해외 앱에 배포할 수 있는가?</a:t>
            </a:r>
            <a:endParaRPr lang="ko-KR" altLang="en-US" sz="1500" dirty="0"/>
          </a:p>
        </p:txBody>
      </p:sp>
      <p:sp>
        <p:nvSpPr>
          <p:cNvPr id="114" name="Shape 114"/>
          <p:cNvSpPr/>
          <p:nvPr/>
        </p:nvSpPr>
        <p:spPr>
          <a:xfrm>
            <a:off x="3340100" y="5232400"/>
            <a:ext cx="2628900" cy="736600"/>
          </a:xfrm>
          <a:prstGeom prst="rect">
            <a:avLst/>
          </a:prstGeom>
          <a:noFill/>
          <a:ln w="12700">
            <a:solidFill>
              <a:srgbClr val="EC1F28"/>
            </a:solidFill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10,000원을 누가 얼마씩 받는가?</a:t>
            </a:r>
            <a:endParaRPr lang="ko-KR" altLang="en-US" sz="1500" dirty="0"/>
          </a:p>
        </p:txBody>
      </p:sp>
      <p:sp>
        <p:nvSpPr>
          <p:cNvPr id="115" name="Shape 115"/>
          <p:cNvSpPr/>
          <p:nvPr/>
        </p:nvSpPr>
        <p:spPr>
          <a:xfrm>
            <a:off x="6223000" y="5232400"/>
            <a:ext cx="2628900" cy="736600"/>
          </a:xfrm>
          <a:prstGeom prst="rect">
            <a:avLst/>
          </a:prstGeom>
          <a:noFill/>
          <a:ln w="12700">
            <a:solidFill>
              <a:srgbClr val="EC1F28"/>
            </a:solidFill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마스터 몫은 L과 L2 중 누구 것인가?</a:t>
            </a:r>
            <a:endParaRPr lang="ko-KR" altLang="en-US" sz="1500" dirty="0"/>
          </a:p>
        </p:txBody>
      </p:sp>
      <p:sp>
        <p:nvSpPr>
          <p:cNvPr id="116" name="Shape 116"/>
          <p:cNvSpPr/>
          <p:nvPr/>
        </p:nvSpPr>
        <p:spPr>
          <a:xfrm>
            <a:off x="9105900" y="5232400"/>
            <a:ext cx="2628900" cy="736600"/>
          </a:xfrm>
          <a:prstGeom prst="rect">
            <a:avLst/>
          </a:prstGeom>
          <a:noFill/>
          <a:ln w="12700">
            <a:solidFill>
              <a:srgbClr val="EC1F28"/>
            </a:solidFill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분쟁 중 다른 몫은 지급되는가?</a:t>
            </a:r>
            <a:endParaRPr lang="ko-KR" altLang="en-US" sz="1500" dirty="0"/>
          </a:p>
        </p:txBody>
      </p:sp>
      <p:sp>
        <p:nvSpPr>
          <p:cNvPr id="117" name="Source"/>
          <p:cNvSpPr txBox="1"/>
          <p:nvPr/>
        </p:nvSpPr>
        <p:spPr>
          <a:xfrm>
            <a:off x="457200" y="62738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가상의 곡 W001 “별빛” 사례. 모든 값은 예시입니다.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88006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기존 도구는 각자 맡은 일을 잘하지만,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n차 결과물의 허락과 안분을 계산하는 층은 비어 있습니다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02  현행 체계의 미흡</a:t>
            </a:r>
            <a:endParaRPr lang="ko-KR" altLang="en-US" sz="1400" dirty="0"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457200" y="1676400"/>
          <a:ext cx="11277600" cy="378460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현행 도구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하는 일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n차 창작에서 하지 않는 일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신탁관리단체 </a:t>
                      </a:r>
                      <a:r>
                        <a:rPr lang="ko-KR" altLang="en-US" sz="1500" b="1" dirty="0" err="1">
                          <a:solidFill>
                            <a:srgbClr val="141414"/>
                          </a:solidFill>
                        </a:rPr>
                        <a:t>요율</a:t>
                      </a:r>
                      <a:r>
                        <a:rPr lang="en-US" altLang="ko-KR" sz="15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배분 규정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고정된 이용 유형에 대한 일률적 분배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결과물별 소스</a:t>
                      </a:r>
                      <a:r>
                        <a:rPr lang="en-US" altLang="ko-KR" sz="15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사용량</a:t>
                      </a:r>
                      <a:r>
                        <a:rPr lang="en-US" altLang="ko-KR" sz="15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단계별 역할 반영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ISWC </a:t>
                      </a:r>
                      <a:r>
                        <a:rPr lang="en-US" altLang="ko-KR" sz="15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ISRC </a:t>
                      </a:r>
                      <a:r>
                        <a:rPr lang="en-US" altLang="ko-KR" sz="15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ISNI </a:t>
                      </a:r>
                      <a:r>
                        <a:rPr lang="en-US" altLang="ko-KR" sz="15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IPI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작품</a:t>
                      </a:r>
                      <a:r>
                        <a:rPr lang="en-US" altLang="ko-KR" sz="15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녹음</a:t>
                      </a:r>
                      <a:r>
                        <a:rPr lang="en-US" altLang="ko-KR" sz="15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주체의 식별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파생 경로와 사용 관계의 표현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CWR </a:t>
                      </a:r>
                      <a:r>
                        <a:rPr lang="en-US" altLang="ko-KR" sz="15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DDEX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등록</a:t>
                      </a:r>
                      <a:r>
                        <a:rPr lang="en-US" altLang="ko-KR" sz="15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발매</a:t>
                      </a:r>
                      <a:r>
                        <a:rPr lang="en-US" altLang="ko-KR" sz="15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이용 보고의 운반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규칙 판정과 금액 계산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계약서 </a:t>
                      </a:r>
                      <a:r>
                        <a:rPr lang="en-US" altLang="ko-KR" sz="15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플랫폼 약관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당사자 합의와 일률적 범위 확정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기계 평가, 단계별 허락 범위 교집합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ODRL </a:t>
                      </a:r>
                      <a:r>
                        <a:rPr lang="en-US" altLang="ko-KR" sz="15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</a:t>
                      </a:r>
                      <a:r>
                        <a:rPr lang="ko-KR" altLang="en-US" sz="1500" b="1" dirty="0" err="1">
                          <a:solidFill>
                            <a:srgbClr val="141414"/>
                          </a:solidFill>
                        </a:rPr>
                        <a:t>ccREL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MPEG-21 REL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허락</a:t>
                      </a:r>
                      <a:r>
                        <a:rPr lang="en-US" altLang="ko-KR" sz="15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금지</a:t>
                      </a:r>
                      <a:r>
                        <a:rPr lang="en-US" altLang="ko-KR" sz="15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의무의 표현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안분, 이중 시간축, 금액 보존, 결과 검증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정산 스크립트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운영자 내부의 금액 산출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공통 정본, 제3자 재계산, 결과 재현 보장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2" name="Shape 102"/>
          <p:cNvSpPr/>
          <p:nvPr/>
        </p:nvSpPr>
        <p:spPr>
          <a:xfrm>
            <a:off x="457200" y="5638800"/>
            <a:ext cx="11277600" cy="3556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141414"/>
                </a:solidFill>
              </a:rPr>
              <a:t>공통 한계: n차 결과물의 사용량</a:t>
            </a:r>
            <a:r>
              <a:rPr lang="en-US" altLang="ko-KR" sz="1500" b="0" dirty="0">
                <a:solidFill>
                  <a:srgbClr val="141414"/>
                </a:solidFill>
              </a:rPr>
              <a:t>/</a:t>
            </a:r>
            <a:r>
              <a:rPr lang="ko-KR" altLang="en-US" sz="1500" b="0" dirty="0">
                <a:solidFill>
                  <a:srgbClr val="141414"/>
                </a:solidFill>
              </a:rPr>
              <a:t>지분</a:t>
            </a:r>
            <a:r>
              <a:rPr lang="en-US" altLang="ko-KR" sz="1500" b="0" dirty="0">
                <a:solidFill>
                  <a:srgbClr val="141414"/>
                </a:solidFill>
              </a:rPr>
              <a:t>/</a:t>
            </a:r>
            <a:r>
              <a:rPr lang="ko-KR" altLang="en-US" sz="1500" b="0" dirty="0">
                <a:solidFill>
                  <a:srgbClr val="141414"/>
                </a:solidFill>
              </a:rPr>
              <a:t>계약을 </a:t>
            </a:r>
            <a:r>
              <a:rPr lang="ko-KR" altLang="en-US" sz="1500" b="1" dirty="0">
                <a:solidFill>
                  <a:srgbClr val="EC1F28"/>
                </a:solidFill>
              </a:rPr>
              <a:t>같은 결과로 계산하고 제3자가 다시 계산할 수 있게 공개하는 층</a:t>
            </a:r>
            <a:r>
              <a:rPr lang="ko-KR" altLang="en-US" sz="1500" b="0" dirty="0">
                <a:solidFill>
                  <a:srgbClr val="141414"/>
                </a:solidFill>
              </a:rPr>
              <a:t>이 없습니다.</a:t>
            </a:r>
            <a:endParaRPr lang="ko-KR" altLang="en-US" sz="1500" dirty="0"/>
          </a:p>
        </p:txBody>
      </p:sp>
      <p:sp>
        <p:nvSpPr>
          <p:cNvPr id="103" name="Source"/>
          <p:cNvSpPr txBox="1"/>
          <p:nvPr/>
        </p:nvSpPr>
        <p:spPr>
          <a:xfrm>
            <a:off x="457200" y="5943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7F7F7F"/>
                </a:solidFill>
              </a:rPr>
              <a:t>ISNI</a:t>
            </a:r>
            <a:r>
              <a:rPr lang="ko-KR" altLang="en-US" sz="1000" dirty="0">
                <a:solidFill>
                  <a:srgbClr val="7F7F7F"/>
                </a:solidFill>
              </a:rPr>
              <a:t> International Standard Name Identifier(국제 표준 이름 식별자)</a:t>
            </a:r>
            <a:r>
              <a:rPr lang="ko-KR" altLang="en-US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altLang="en-US" sz="1000" b="1" dirty="0">
                <a:solidFill>
                  <a:srgbClr val="7F7F7F"/>
                </a:solidFill>
              </a:rPr>
              <a:t>  IPI</a:t>
            </a:r>
            <a:r>
              <a:rPr lang="ko-KR" altLang="en-US" sz="1000" dirty="0">
                <a:solidFill>
                  <a:srgbClr val="7F7F7F"/>
                </a:solidFill>
              </a:rPr>
              <a:t> Interested Parties Information(이해관계자 정보 번호)</a:t>
            </a:r>
            <a:r>
              <a:rPr lang="ko-KR" altLang="en-US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altLang="en-US" sz="1000" b="1" dirty="0">
                <a:solidFill>
                  <a:srgbClr val="7F7F7F"/>
                </a:solidFill>
              </a:rPr>
              <a:t>  ODRL</a:t>
            </a:r>
            <a:r>
              <a:rPr lang="ko-KR" altLang="en-US" sz="1000" dirty="0">
                <a:solidFill>
                  <a:srgbClr val="7F7F7F"/>
                </a:solidFill>
              </a:rPr>
              <a:t> Open Digital Rights Language(개방형 디지털 권리 언어)</a:t>
            </a:r>
            <a:r>
              <a:rPr lang="ko-KR" altLang="en-US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altLang="en-US" sz="1000" b="1" dirty="0">
                <a:solidFill>
                  <a:srgbClr val="7F7F7F"/>
                </a:solidFill>
              </a:rPr>
              <a:t>  MPEG-21 REL</a:t>
            </a:r>
            <a:r>
              <a:rPr lang="ko-KR" altLang="en-US" sz="1000" dirty="0">
                <a:solidFill>
                  <a:srgbClr val="7F7F7F"/>
                </a:solidFill>
              </a:rPr>
              <a:t> MPEG-21 Rights Expression Language(MPEG-21 권리 표현 언어)</a:t>
            </a:r>
            <a:endParaRPr lang="en-US" altLang="ko-KR" sz="1000" dirty="0">
              <a:solidFill>
                <a:srgbClr val="7F7F7F"/>
              </a:solidFill>
            </a:endParaRPr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0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34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식별자 표준이 있어도 매칭이 실패하면 지급이 멈추고,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파생 단계가 깊어질수록 실패 지점이 늘어납니다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02  현행 체계의 미흡</a:t>
            </a:r>
            <a:endParaRPr lang="ko-KR" altLang="en-US" sz="1400" dirty="0"/>
          </a:p>
        </p:txBody>
      </p:sp>
      <p:sp>
        <p:nvSpPr>
          <p:cNvPr id="101" name="Chart label"/>
          <p:cNvSpPr txBox="1"/>
          <p:nvPr/>
        </p:nvSpPr>
        <p:spPr>
          <a:xfrm>
            <a:off x="457200" y="16256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미국 과거 미매칭 로열티 처리 현황</a:t>
            </a:r>
            <a:endParaRPr lang="ko-KR" altLang="en-US" sz="1500" dirty="0"/>
          </a:p>
        </p:txBody>
      </p:sp>
      <p:sp>
        <p:nvSpPr>
          <p:cNvPr id="102" name="Shape 102"/>
          <p:cNvSpPr txBox="1"/>
          <p:nvPr/>
        </p:nvSpPr>
        <p:spPr>
          <a:xfrm>
            <a:off x="457200" y="19050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7F7F7F"/>
                </a:solidFill>
              </a:rPr>
              <a:t>2007~2020년 이용분, 2021년 DSP 21곳 이전분, $M</a:t>
            </a:r>
            <a:endParaRPr lang="ko-KR" altLang="en-US" sz="1300" dirty="0"/>
          </a:p>
        </p:txBody>
      </p:sp>
      <p:sp>
        <p:nvSpPr>
          <p:cNvPr id="103" name="Shape 103"/>
          <p:cNvSpPr/>
          <p:nvPr/>
        </p:nvSpPr>
        <p:spPr>
          <a:xfrm>
            <a:off x="7569200" y="1701800"/>
            <a:ext cx="50800" cy="12700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4" name="Shape 104"/>
          <p:cNvSpPr/>
          <p:nvPr/>
        </p:nvSpPr>
        <p:spPr>
          <a:xfrm>
            <a:off x="7721600" y="1701800"/>
            <a:ext cx="4013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76200" bIns="25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n차 결과물의 매칭 지점이 늘어납니다</a:t>
            </a:r>
            <a:endParaRPr lang="ko-KR" altLang="en-US" sz="1600" dirty="0"/>
          </a:p>
          <a:p>
            <a:pPr marL="0" indent="0" algn="l" eaLnBrk="0" latinLnBrk="0">
              <a:spcBef>
                <a:spcPts val="4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원곡의 작품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>
                <a:solidFill>
                  <a:srgbClr val="404040"/>
                </a:solidFill>
              </a:rPr>
              <a:t>녹음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>
                <a:solidFill>
                  <a:srgbClr val="404040"/>
                </a:solidFill>
              </a:rPr>
              <a:t>실연에 더해 </a:t>
            </a:r>
            <a:r>
              <a:rPr lang="ko-KR" altLang="en-US" sz="1400" b="1" dirty="0">
                <a:solidFill>
                  <a:srgbClr val="404040"/>
                </a:solidFill>
              </a:rPr>
              <a:t>샘플, 스템, 앞 단계 파생물</a:t>
            </a:r>
            <a:r>
              <a:rPr lang="ko-KR" altLang="en-US" sz="1400" b="0" dirty="0">
                <a:solidFill>
                  <a:srgbClr val="404040"/>
                </a:solidFill>
              </a:rPr>
              <a:t>마다 식별자와 권리자를 따로 매칭해야 합니다.</a:t>
            </a:r>
            <a:endParaRPr lang="ko-KR" altLang="en-US" sz="1400" dirty="0"/>
          </a:p>
        </p:txBody>
      </p:sp>
      <p:sp>
        <p:nvSpPr>
          <p:cNvPr id="105" name="Shape 105"/>
          <p:cNvSpPr/>
          <p:nvPr/>
        </p:nvSpPr>
        <p:spPr>
          <a:xfrm>
            <a:off x="7569200" y="3175000"/>
            <a:ext cx="50800" cy="12700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6" name="Shape 106"/>
          <p:cNvSpPr/>
          <p:nvPr/>
        </p:nvSpPr>
        <p:spPr>
          <a:xfrm>
            <a:off x="7721600" y="3175000"/>
            <a:ext cx="4013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76200" bIns="25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정산 명세는 합계만 보여 줍니다</a:t>
            </a:r>
            <a:endParaRPr lang="ko-KR" altLang="en-US" sz="1600" dirty="0"/>
          </a:p>
          <a:p>
            <a:pPr marL="0" indent="0" algn="l" eaLnBrk="0" latinLnBrk="0">
              <a:spcBef>
                <a:spcPts val="4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권리자는 이용 건 단위로 금액을 </a:t>
            </a:r>
            <a:r>
              <a:rPr lang="ko-KR" altLang="en-US" sz="1400" b="1" dirty="0">
                <a:solidFill>
                  <a:srgbClr val="404040"/>
                </a:solidFill>
              </a:rPr>
              <a:t>다시 계산하거나 누락을 찾을 수 없습니다.</a:t>
            </a:r>
            <a:endParaRPr lang="ko-KR" altLang="en-US" sz="1400" dirty="0"/>
          </a:p>
        </p:txBody>
      </p:sp>
      <p:sp>
        <p:nvSpPr>
          <p:cNvPr id="107" name="Shape 107"/>
          <p:cNvSpPr/>
          <p:nvPr/>
        </p:nvSpPr>
        <p:spPr>
          <a:xfrm>
            <a:off x="7569200" y="4648200"/>
            <a:ext cx="50800" cy="12700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8" name="Shape 108"/>
          <p:cNvSpPr/>
          <p:nvPr/>
        </p:nvSpPr>
        <p:spPr>
          <a:xfrm>
            <a:off x="7721600" y="4648200"/>
            <a:ext cx="4013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76200" bIns="25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부정 이용은 파생 경로를 따라 번집니다</a:t>
            </a:r>
            <a:endParaRPr lang="ko-KR" altLang="en-US" sz="1600" dirty="0"/>
          </a:p>
          <a:p>
            <a:pPr marL="0" indent="0" algn="l" eaLnBrk="0" latinLnBrk="0">
              <a:spcBef>
                <a:spcPts val="4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리믹스의 부정 재생 금액이 원곡 권리자까지 안분되고, 사후 차감은 </a:t>
            </a:r>
            <a:r>
              <a:rPr lang="ko-KR" altLang="en-US" sz="1400" b="1" dirty="0">
                <a:solidFill>
                  <a:srgbClr val="404040"/>
                </a:solidFill>
              </a:rPr>
              <a:t>추적이 어렵습니다.</a:t>
            </a:r>
            <a:endParaRPr lang="ko-KR" altLang="en-US" sz="1400" dirty="0"/>
          </a:p>
        </p:txBody>
      </p:sp>
      <p:sp>
        <p:nvSpPr>
          <p:cNvPr id="109" name="Source"/>
          <p:cNvSpPr txBox="1"/>
          <p:nvPr/>
        </p:nvSpPr>
        <p:spPr>
          <a:xfrm>
            <a:off x="457200" y="6096000"/>
            <a:ext cx="1127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7F7F7F"/>
                </a:solidFill>
              </a:rPr>
              <a:t>MLC</a:t>
            </a:r>
            <a:r>
              <a:rPr lang="ko-KR" altLang="en-US" sz="1000" dirty="0">
                <a:solidFill>
                  <a:srgbClr val="7F7F7F"/>
                </a:solidFill>
              </a:rPr>
              <a:t> The Mechanical Licensing Collective(미국 기계적 복제권 포괄 라이선스 집중기구)</a:t>
            </a:r>
            <a:r>
              <a:rPr lang="ko-KR" altLang="en-US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altLang="en-US" sz="1000" b="1" dirty="0">
                <a:solidFill>
                  <a:srgbClr val="7F7F7F"/>
                </a:solidFill>
              </a:rPr>
              <a:t>  DSP</a:t>
            </a:r>
            <a:r>
              <a:rPr lang="ko-KR" altLang="en-US" sz="1000" dirty="0">
                <a:solidFill>
                  <a:srgbClr val="7F7F7F"/>
                </a:solidFill>
              </a:rPr>
              <a:t> Digital Service Provider(디지털 서비스 제공자)</a:t>
            </a:r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출처: The MLC, Historical Unmatched Royalties (게시 시점 기준). 미청구 잔액의 시장점유율 기반 분배는 2027년 시작 예정</a:t>
            </a:r>
            <a:endParaRPr lang="ko-KR" altLang="en-US" sz="1000" dirty="0"/>
          </a:p>
        </p:txBody>
      </p:sp>
      <p:graphicFrame>
        <p:nvGraphicFramePr>
          <p:cNvPr id="110" name="Chart"/>
          <p:cNvGraphicFramePr/>
          <p:nvPr/>
        </p:nvGraphicFramePr>
        <p:xfrm>
          <a:off x="457200" y="2209800"/>
          <a:ext cx="660400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6550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종합하면, 현행 체계는 n차 창작에서 생기는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8가지 권리 관리 문제를 풀지 못합니다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02  현행 체계의 미흡 (종합)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651000"/>
            <a:ext cx="2609850" cy="200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P1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141414"/>
                </a:solidFill>
              </a:rPr>
              <a:t>파생 경로 추적</a:t>
            </a:r>
            <a:endParaRPr lang="ko-KR" altLang="en-US" sz="17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3차 결과물의 권리자를 알려면 2차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1차를 모두 따라가야 하고, 복제 저장 시 정정이 전파되지 않음</a:t>
            </a:r>
            <a:endParaRPr lang="ko-KR" altLang="en-US" sz="1500" dirty="0"/>
          </a:p>
        </p:txBody>
      </p:sp>
      <p:sp>
        <p:nvSpPr>
          <p:cNvPr id="102" name="Shape 102"/>
          <p:cNvSpPr/>
          <p:nvPr/>
        </p:nvSpPr>
        <p:spPr>
          <a:xfrm>
            <a:off x="457200" y="1651000"/>
            <a:ext cx="2609850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3" name="Shape 103"/>
          <p:cNvSpPr/>
          <p:nvPr/>
        </p:nvSpPr>
        <p:spPr>
          <a:xfrm>
            <a:off x="3346450" y="1651000"/>
            <a:ext cx="2609850" cy="200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P2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141414"/>
                </a:solidFill>
              </a:rPr>
              <a:t>역할별 청구 분리</a:t>
            </a:r>
            <a:endParaRPr lang="ko-KR" altLang="en-US" sz="17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같은 사람이 작곡가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실연자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판매자일 때 합계만 남아 어느 권리의 대가인지 설명 불가</a:t>
            </a:r>
            <a:endParaRPr lang="ko-KR" altLang="en-US" sz="1500" dirty="0"/>
          </a:p>
        </p:txBody>
      </p:sp>
      <p:sp>
        <p:nvSpPr>
          <p:cNvPr id="104" name="Shape 104"/>
          <p:cNvSpPr/>
          <p:nvPr/>
        </p:nvSpPr>
        <p:spPr>
          <a:xfrm>
            <a:off x="3346450" y="1651000"/>
            <a:ext cx="2609850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5" name="Shape 105"/>
          <p:cNvSpPr/>
          <p:nvPr/>
        </p:nvSpPr>
        <p:spPr>
          <a:xfrm>
            <a:off x="6235700" y="1651000"/>
            <a:ext cx="2609850" cy="200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P3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141414"/>
                </a:solidFill>
              </a:rPr>
              <a:t>비율의 중첩</a:t>
            </a:r>
            <a:endParaRPr lang="ko-KR" altLang="en-US" sz="17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지분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사용량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계약 비율을 곱해 버리면 단계별 근거와 끝수 귀속이 사라짐</a:t>
            </a:r>
            <a:endParaRPr lang="ko-KR" altLang="en-US" sz="1500" dirty="0"/>
          </a:p>
        </p:txBody>
      </p:sp>
      <p:sp>
        <p:nvSpPr>
          <p:cNvPr id="106" name="Shape 106"/>
          <p:cNvSpPr/>
          <p:nvPr/>
        </p:nvSpPr>
        <p:spPr>
          <a:xfrm>
            <a:off x="6235700" y="1651000"/>
            <a:ext cx="2609850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7" name="Shape 107"/>
          <p:cNvSpPr/>
          <p:nvPr/>
        </p:nvSpPr>
        <p:spPr>
          <a:xfrm>
            <a:off x="9124950" y="1651000"/>
            <a:ext cx="2609850" cy="200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P4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141414"/>
                </a:solidFill>
              </a:rPr>
              <a:t>허락 범위 승계</a:t>
            </a:r>
            <a:endParaRPr lang="ko-KR" altLang="en-US" sz="17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“국내 앱”만 허락된 소스로 만든 결과물을 해외에 쓰는지 계산할 수단이 없음</a:t>
            </a:r>
            <a:endParaRPr lang="ko-KR" altLang="en-US" sz="1500" dirty="0"/>
          </a:p>
        </p:txBody>
      </p:sp>
      <p:sp>
        <p:nvSpPr>
          <p:cNvPr id="108" name="Shape 108"/>
          <p:cNvSpPr/>
          <p:nvPr/>
        </p:nvSpPr>
        <p:spPr>
          <a:xfrm>
            <a:off x="9124950" y="1651000"/>
            <a:ext cx="2609850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9" name="Shape 109"/>
          <p:cNvSpPr/>
          <p:nvPr/>
        </p:nvSpPr>
        <p:spPr>
          <a:xfrm>
            <a:off x="457200" y="3937000"/>
            <a:ext cx="2609850" cy="200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P5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141414"/>
                </a:solidFill>
              </a:rPr>
              <a:t>이용 후 바뀌는 권리</a:t>
            </a:r>
            <a:endParaRPr lang="ko-KR" altLang="en-US" sz="17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효력 시점과 기록 시점을 구분하지 않아 과거 정산을 재현할 수 없음</a:t>
            </a:r>
            <a:endParaRPr lang="ko-KR" altLang="en-US" sz="1500" dirty="0"/>
          </a:p>
        </p:txBody>
      </p:sp>
      <p:sp>
        <p:nvSpPr>
          <p:cNvPr id="110" name="Shape 110"/>
          <p:cNvSpPr/>
          <p:nvPr/>
        </p:nvSpPr>
        <p:spPr>
          <a:xfrm>
            <a:off x="457200" y="3937000"/>
            <a:ext cx="2609850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11" name="Shape 111"/>
          <p:cNvSpPr/>
          <p:nvPr/>
        </p:nvSpPr>
        <p:spPr>
          <a:xfrm>
            <a:off x="3346450" y="3937000"/>
            <a:ext cx="2609850" cy="200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P6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141414"/>
                </a:solidFill>
              </a:rPr>
              <a:t>일부 소스 분쟁</a:t>
            </a:r>
            <a:endParaRPr lang="ko-KR" altLang="en-US" sz="17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분쟁 몫만 보류하지 못하고 곡 전체 지급 정지 또는 비례 축소</a:t>
            </a:r>
            <a:endParaRPr lang="ko-KR" altLang="en-US" sz="1500" dirty="0"/>
          </a:p>
        </p:txBody>
      </p:sp>
      <p:sp>
        <p:nvSpPr>
          <p:cNvPr id="112" name="Shape 112"/>
          <p:cNvSpPr/>
          <p:nvPr/>
        </p:nvSpPr>
        <p:spPr>
          <a:xfrm>
            <a:off x="3346450" y="3937000"/>
            <a:ext cx="2609850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13" name="Shape 113"/>
          <p:cNvSpPr/>
          <p:nvPr/>
        </p:nvSpPr>
        <p:spPr>
          <a:xfrm>
            <a:off x="6235700" y="3937000"/>
            <a:ext cx="2609850" cy="200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P7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141414"/>
                </a:solidFill>
              </a:rPr>
              <a:t>기존에 없는 역할</a:t>
            </a:r>
            <a:endParaRPr lang="ko-KR" altLang="en-US" sz="17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팬 기여자, AI 모델 제공자, 플랫폼 풀이 DDEX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CWR 역할 어휘에 없음</a:t>
            </a:r>
            <a:endParaRPr lang="ko-KR" altLang="en-US" sz="1500" dirty="0"/>
          </a:p>
        </p:txBody>
      </p:sp>
      <p:sp>
        <p:nvSpPr>
          <p:cNvPr id="114" name="Shape 114"/>
          <p:cNvSpPr/>
          <p:nvPr/>
        </p:nvSpPr>
        <p:spPr>
          <a:xfrm>
            <a:off x="6235700" y="3937000"/>
            <a:ext cx="2609850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15" name="Shape 115"/>
          <p:cNvSpPr/>
          <p:nvPr/>
        </p:nvSpPr>
        <p:spPr>
          <a:xfrm>
            <a:off x="9124950" y="3937000"/>
            <a:ext cx="2609850" cy="200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P8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141414"/>
                </a:solidFill>
              </a:rPr>
              <a:t>허락과 정산의 혼동</a:t>
            </a:r>
            <a:endParaRPr lang="ko-KR" altLang="en-US" sz="17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금액이 계산되면 이용이 허락된 것으로 오인되기 쉬움</a:t>
            </a:r>
            <a:endParaRPr lang="ko-KR" altLang="en-US" sz="1500" dirty="0"/>
          </a:p>
        </p:txBody>
      </p:sp>
      <p:sp>
        <p:nvSpPr>
          <p:cNvPr id="116" name="Shape 116"/>
          <p:cNvSpPr/>
          <p:nvPr/>
        </p:nvSpPr>
        <p:spPr>
          <a:xfrm>
            <a:off x="9124950" y="3937000"/>
            <a:ext cx="2609850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058903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MDRL은 n차 이용의 권리 사실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허락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안분을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누구나 읽고 검증할 수 있는 개방형 언어로 기술합니다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03  음악 저작권 관리 도메인 특화 언어 (개방형 표준)</a:t>
            </a:r>
            <a:endParaRPr lang="ko-KR" altLang="en-US" sz="1400" dirty="0"/>
          </a:p>
        </p:txBody>
      </p:sp>
      <p:sp>
        <p:nvSpPr>
          <p:cNvPr id="101" name="Shape 101"/>
          <p:cNvSpPr txBox="1"/>
          <p:nvPr/>
        </p:nvSpPr>
        <p:spPr>
          <a:xfrm>
            <a:off x="457200" y="1651000"/>
            <a:ext cx="546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EC1F28"/>
                </a:solidFill>
              </a:rPr>
              <a:t>MDRL이 맡는 일</a:t>
            </a:r>
            <a:endParaRPr lang="ko-KR" altLang="en-US" sz="1700" dirty="0"/>
          </a:p>
        </p:txBody>
      </p:sp>
      <p:sp>
        <p:nvSpPr>
          <p:cNvPr id="102" name="Shape 102"/>
          <p:cNvSpPr/>
          <p:nvPr/>
        </p:nvSpPr>
        <p:spPr>
          <a:xfrm>
            <a:off x="457200" y="2057400"/>
            <a:ext cx="1397000" cy="7874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76200" tIns="45720" rIns="762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정의</a:t>
            </a:r>
            <a:endParaRPr lang="ko-KR" altLang="en-US" sz="1500" dirty="0"/>
          </a:p>
        </p:txBody>
      </p:sp>
      <p:sp>
        <p:nvSpPr>
          <p:cNvPr id="103" name="Shape 103"/>
          <p:cNvSpPr/>
          <p:nvPr/>
        </p:nvSpPr>
        <p:spPr>
          <a:xfrm>
            <a:off x="1905000" y="2057400"/>
            <a:ext cx="40132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27000" tIns="45720" rIns="1270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누가 어떤 결과물에 </a:t>
            </a:r>
            <a:r>
              <a:rPr lang="ko-KR" altLang="en-US" sz="1400" b="1" dirty="0">
                <a:solidFill>
                  <a:srgbClr val="262626"/>
                </a:solidFill>
              </a:rPr>
              <a:t>어떤 역할과 비율</a:t>
            </a:r>
            <a:r>
              <a:rPr lang="ko-KR" altLang="en-US" sz="1400" b="0" dirty="0">
                <a:solidFill>
                  <a:srgbClr val="262626"/>
                </a:solidFill>
              </a:rPr>
              <a:t>로 참여했는지, 어떤 </a:t>
            </a:r>
            <a:r>
              <a:rPr lang="ko-KR" altLang="en-US" sz="1400" b="1" dirty="0">
                <a:solidFill>
                  <a:srgbClr val="262626"/>
                </a:solidFill>
              </a:rPr>
              <a:t>범위로 허락</a:t>
            </a:r>
            <a:r>
              <a:rPr lang="ko-KR" altLang="en-US" sz="1400" b="0" dirty="0">
                <a:solidFill>
                  <a:srgbClr val="262626"/>
                </a:solidFill>
              </a:rPr>
              <a:t>되었는지 정해진 형식으로 기술</a:t>
            </a:r>
            <a:endParaRPr lang="ko-KR" altLang="en-US" sz="1400" dirty="0"/>
          </a:p>
        </p:txBody>
      </p:sp>
      <p:sp>
        <p:nvSpPr>
          <p:cNvPr id="104" name="Shape 104"/>
          <p:cNvSpPr/>
          <p:nvPr/>
        </p:nvSpPr>
        <p:spPr>
          <a:xfrm>
            <a:off x="457200" y="2971800"/>
            <a:ext cx="1397000" cy="7874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76200" tIns="45720" rIns="762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일관성</a:t>
            </a:r>
            <a:endParaRPr lang="ko-KR" altLang="en-US" sz="1500" dirty="0"/>
          </a:p>
        </p:txBody>
      </p:sp>
      <p:sp>
        <p:nvSpPr>
          <p:cNvPr id="105" name="Shape 105"/>
          <p:cNvSpPr/>
          <p:nvPr/>
        </p:nvSpPr>
        <p:spPr>
          <a:xfrm>
            <a:off x="1905000" y="2971800"/>
            <a:ext cx="40132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27000" tIns="45720" rIns="1270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같은 권리 사실은 </a:t>
            </a:r>
            <a:r>
              <a:rPr lang="ko-KR" altLang="en-US" sz="1400" b="1" dirty="0">
                <a:solidFill>
                  <a:srgbClr val="262626"/>
                </a:solidFill>
              </a:rPr>
              <a:t>한 곳에만 기록</a:t>
            </a:r>
            <a:r>
              <a:rPr lang="ko-KR" altLang="en-US" sz="1400" b="0" dirty="0">
                <a:solidFill>
                  <a:srgbClr val="262626"/>
                </a:solidFill>
              </a:rPr>
              <a:t>하고 모든 파생 결과물과 정산이 이를 참조</a:t>
            </a:r>
            <a:endParaRPr lang="ko-KR" altLang="en-US" sz="1400" dirty="0"/>
          </a:p>
        </p:txBody>
      </p:sp>
      <p:sp>
        <p:nvSpPr>
          <p:cNvPr id="106" name="Shape 106"/>
          <p:cNvSpPr/>
          <p:nvPr/>
        </p:nvSpPr>
        <p:spPr>
          <a:xfrm>
            <a:off x="457200" y="3886200"/>
            <a:ext cx="1397000" cy="7874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76200" tIns="45720" rIns="762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계산과 증명</a:t>
            </a:r>
            <a:endParaRPr lang="ko-KR" altLang="en-US" sz="1500" dirty="0"/>
          </a:p>
        </p:txBody>
      </p:sp>
      <p:sp>
        <p:nvSpPr>
          <p:cNvPr id="107" name="Shape 107"/>
          <p:cNvSpPr/>
          <p:nvPr/>
        </p:nvSpPr>
        <p:spPr>
          <a:xfrm>
            <a:off x="1905000" y="3886200"/>
            <a:ext cx="40132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27000" tIns="45720" rIns="1270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승인된 사실과 정책으로 </a:t>
            </a:r>
            <a:r>
              <a:rPr lang="ko-KR" altLang="en-US" sz="1400" b="1" dirty="0">
                <a:solidFill>
                  <a:srgbClr val="262626"/>
                </a:solidFill>
              </a:rPr>
              <a:t>같은 입력이면 같은 결과</a:t>
            </a:r>
            <a:r>
              <a:rPr lang="ko-KR" altLang="en-US" sz="1400" b="0" dirty="0">
                <a:solidFill>
                  <a:srgbClr val="262626"/>
                </a:solidFill>
              </a:rPr>
              <a:t>를 내고, 해시 요약값으로 누구나 재계산</a:t>
            </a:r>
            <a:r>
              <a:rPr lang="en-US" altLang="ko-KR" sz="1400" b="0" dirty="0">
                <a:solidFill>
                  <a:srgbClr val="262626"/>
                </a:solidFill>
              </a:rPr>
              <a:t>/</a:t>
            </a:r>
            <a:r>
              <a:rPr lang="ko-KR" altLang="en-US" sz="1400" b="0" dirty="0">
                <a:solidFill>
                  <a:srgbClr val="262626"/>
                </a:solidFill>
              </a:rPr>
              <a:t>대조</a:t>
            </a:r>
            <a:endParaRPr lang="ko-KR" altLang="en-US" sz="1400" dirty="0"/>
          </a:p>
        </p:txBody>
      </p:sp>
      <p:sp>
        <p:nvSpPr>
          <p:cNvPr id="108" name="Shape 108"/>
          <p:cNvSpPr txBox="1"/>
          <p:nvPr/>
        </p:nvSpPr>
        <p:spPr>
          <a:xfrm>
            <a:off x="457200" y="4876800"/>
            <a:ext cx="546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595959"/>
                </a:solidFill>
              </a:rPr>
              <a:t>MDRL이 판정하지 않는 일</a:t>
            </a:r>
            <a:endParaRPr lang="ko-KR" altLang="en-US" sz="1700" dirty="0"/>
          </a:p>
        </p:txBody>
      </p:sp>
      <p:sp>
        <p:nvSpPr>
          <p:cNvPr id="109" name="Shape 109"/>
          <p:cNvSpPr/>
          <p:nvPr/>
        </p:nvSpPr>
        <p:spPr>
          <a:xfrm>
            <a:off x="457200" y="5232400"/>
            <a:ext cx="5461000" cy="812800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lIns="152400" tIns="101600" rIns="152400" bIns="101600" rtlCol="0" anchor="ctr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404040"/>
                </a:solidFill>
              </a:rPr>
              <a:t>2차적저작물의 법적 성립과 귀속, 권리 주장의 진실성</a:t>
            </a:r>
            <a:endParaRPr lang="ko-KR" altLang="en-US" sz="1500" dirty="0"/>
          </a:p>
          <a:p>
            <a:pPr marL="171450" indent="-171450" algn="l" eaLnBrk="0" latinLnBrk="0">
              <a:spcBef>
                <a:spcPts val="4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 err="1">
                <a:solidFill>
                  <a:srgbClr val="404040"/>
                </a:solidFill>
              </a:rPr>
              <a:t>요율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비율 협상, 세무, 지급 실행</a:t>
            </a:r>
            <a:endParaRPr lang="ko-KR" altLang="en-US" sz="1500" dirty="0"/>
          </a:p>
        </p:txBody>
      </p:sp>
      <p:sp>
        <p:nvSpPr>
          <p:cNvPr id="110" name="Shape 110"/>
          <p:cNvSpPr txBox="1"/>
          <p:nvPr/>
        </p:nvSpPr>
        <p:spPr>
          <a:xfrm>
            <a:off x="6273800" y="1651000"/>
            <a:ext cx="546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41414"/>
                </a:solidFill>
              </a:rPr>
              <a:t>안분 정책 예시 (텍스트 표기)</a:t>
            </a:r>
            <a:endParaRPr lang="ko-KR" altLang="en-US" sz="1700" dirty="0"/>
          </a:p>
        </p:txBody>
      </p:sp>
      <p:sp>
        <p:nvSpPr>
          <p:cNvPr id="111" name="Shape 111"/>
          <p:cNvSpPr/>
          <p:nvPr/>
        </p:nvSpPr>
        <p:spPr>
          <a:xfrm>
            <a:off x="6273800" y="2057400"/>
            <a:ext cx="5461000" cy="3302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allocation "ALLOC-EXAMPLE-01" version 1 {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uses facts "work-facts-01"@1 digest "sha256:4c8f…";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scope { events: [PRIMARY, RESALE]; currency: KRW; }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layer 1 { platform = 25%; ops = 500bps; rights = 70%; }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layer 2 rights {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  split {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    master    = graph(MASTER_OWNER) : 45%;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    performer = mix(fixed: 40%, usage: 60%) : 45%;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    work      = graph(WORK_AUTHOR) via mandate : 10%;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  }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}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  rounding { method: HIERARCHICAL_LRM_V1; }</a:t>
            </a:r>
            <a:endParaRPr lang="ko-KR" altLang="en-US" sz="13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E8EEF2"/>
                </a:solidFill>
                <a:latin typeface="Consolas"/>
                <a:ea typeface="맑은 고딕"/>
                <a:cs typeface="Consolas"/>
              </a:rPr>
              <a:t>}</a:t>
            </a:r>
            <a:endParaRPr lang="ko-KR" altLang="en-US" sz="1300" dirty="0"/>
          </a:p>
        </p:txBody>
      </p:sp>
      <p:sp>
        <p:nvSpPr>
          <p:cNvPr id="112" name="Shape 112"/>
          <p:cNvSpPr/>
          <p:nvPr/>
        </p:nvSpPr>
        <p:spPr>
          <a:xfrm>
            <a:off x="6273800" y="5461000"/>
            <a:ext cx="5461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50800" rIns="0" bIns="508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사람이 읽는 </a:t>
            </a:r>
            <a:r>
              <a:rPr lang="ko-KR" altLang="en-US" sz="1400" b="1" dirty="0">
                <a:solidFill>
                  <a:srgbClr val="262626"/>
                </a:solidFill>
              </a:rPr>
              <a:t>텍스트 표기</a:t>
            </a:r>
            <a:r>
              <a:rPr lang="ko-KR" altLang="en-US" sz="1400" b="0" dirty="0">
                <a:solidFill>
                  <a:srgbClr val="262626"/>
                </a:solidFill>
              </a:rPr>
              <a:t>와 기계가 계산하는 </a:t>
            </a:r>
            <a:r>
              <a:rPr lang="ko-KR" altLang="en-US" sz="1400" b="1" dirty="0">
                <a:solidFill>
                  <a:srgbClr val="262626"/>
                </a:solidFill>
              </a:rPr>
              <a:t>구조 표현(JSON)</a:t>
            </a:r>
            <a:r>
              <a:rPr lang="ko-KR" altLang="en-US" sz="1400" b="0" dirty="0">
                <a:solidFill>
                  <a:srgbClr val="262626"/>
                </a:solidFill>
              </a:rPr>
              <a:t>이 같은 의미를 갖고, 계산</a:t>
            </a:r>
            <a:r>
              <a:rPr lang="en-US" altLang="ko-KR" sz="1400" b="0" dirty="0">
                <a:solidFill>
                  <a:srgbClr val="262626"/>
                </a:solidFill>
              </a:rPr>
              <a:t>/</a:t>
            </a:r>
            <a:r>
              <a:rPr lang="ko-KR" altLang="en-US" sz="1400" b="0" dirty="0">
                <a:solidFill>
                  <a:srgbClr val="262626"/>
                </a:solidFill>
              </a:rPr>
              <a:t>검증은 구조 표현 하나만 기준으로 합니다.</a:t>
            </a:r>
            <a:endParaRPr lang="ko-KR" altLang="en-US" sz="1400" dirty="0"/>
          </a:p>
        </p:txBody>
      </p:sp>
      <p:sp>
        <p:nvSpPr>
          <p:cNvPr id="113" name="Source"/>
          <p:cNvSpPr txBox="1"/>
          <p:nvPr/>
        </p:nvSpPr>
        <p:spPr>
          <a:xfrm>
            <a:off x="457200" y="61214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7F7F7F"/>
                </a:solidFill>
              </a:rPr>
              <a:t>JSON</a:t>
            </a:r>
            <a:r>
              <a:rPr lang="ko-KR" altLang="en-US" sz="1000" dirty="0">
                <a:solidFill>
                  <a:srgbClr val="7F7F7F"/>
                </a:solidFill>
              </a:rPr>
              <a:t> JavaScript Object Notation(자바스크립트 객체 표기법)</a:t>
            </a:r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MDRL Music Derivative Rights Language(음악 파생 권리 언어).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9618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MDRL은 기존 표준을 대체하지 않고,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기존 체계가 답하지 않는 층을 위에 더합니다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03  음악 저작권 관리 도메인 특화 언어 (개방형 표준)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625600"/>
            <a:ext cx="7162800" cy="10414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MDRL  </a:t>
            </a:r>
            <a:r>
              <a:rPr lang="en-US" altLang="ko-KR" sz="1700" b="1" dirty="0">
                <a:solidFill>
                  <a:srgbClr val="FFFFFF"/>
                </a:solidFill>
              </a:rPr>
              <a:t>/</a:t>
            </a:r>
            <a:r>
              <a:rPr lang="ko-KR" altLang="en-US" sz="1700" b="1" dirty="0">
                <a:solidFill>
                  <a:srgbClr val="FFFFFF"/>
                </a:solidFill>
              </a:rPr>
              <a:t>  새로 더하는 층</a:t>
            </a:r>
            <a:endParaRPr lang="ko-KR" altLang="en-US" sz="1700" dirty="0"/>
          </a:p>
          <a:p>
            <a:pPr marL="0" indent="0" algn="l" eaLnBrk="0" latinLnBrk="0">
              <a:spcBef>
                <a:spcPts val="4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FDECEC"/>
                </a:solidFill>
              </a:rPr>
              <a:t>n차 결과물의 허락 범위 판정 </a:t>
            </a:r>
            <a:r>
              <a:rPr lang="en-US" altLang="ko-KR" sz="1400" b="0" dirty="0">
                <a:solidFill>
                  <a:srgbClr val="FDECEC"/>
                </a:solidFill>
              </a:rPr>
              <a:t>/</a:t>
            </a:r>
            <a:r>
              <a:rPr lang="ko-KR" altLang="en-US" sz="1400" b="0" dirty="0">
                <a:solidFill>
                  <a:srgbClr val="FDECEC"/>
                </a:solidFill>
              </a:rPr>
              <a:t> 역할별 수익 안분 </a:t>
            </a:r>
            <a:r>
              <a:rPr lang="en-US" altLang="ko-KR" sz="1400" b="0" dirty="0">
                <a:solidFill>
                  <a:srgbClr val="FDECEC"/>
                </a:solidFill>
              </a:rPr>
              <a:t>/</a:t>
            </a:r>
            <a:r>
              <a:rPr lang="ko-KR" altLang="en-US" sz="1400" b="0" dirty="0">
                <a:solidFill>
                  <a:srgbClr val="FDECEC"/>
                </a:solidFill>
              </a:rPr>
              <a:t> 시점 재현 </a:t>
            </a:r>
            <a:r>
              <a:rPr lang="en-US" altLang="ko-KR" sz="1400" b="0" dirty="0">
                <a:solidFill>
                  <a:srgbClr val="FDECEC"/>
                </a:solidFill>
              </a:rPr>
              <a:t>/</a:t>
            </a:r>
            <a:r>
              <a:rPr lang="ko-KR" altLang="en-US" sz="1400" b="0" dirty="0">
                <a:solidFill>
                  <a:srgbClr val="FDECEC"/>
                </a:solidFill>
              </a:rPr>
              <a:t> 분쟁 보류 </a:t>
            </a:r>
            <a:r>
              <a:rPr lang="en-US" altLang="ko-KR" sz="1400" b="0" dirty="0">
                <a:solidFill>
                  <a:srgbClr val="FDECEC"/>
                </a:solidFill>
              </a:rPr>
              <a:t>/</a:t>
            </a:r>
            <a:r>
              <a:rPr lang="ko-KR" altLang="en-US" sz="1400" b="0" dirty="0">
                <a:solidFill>
                  <a:srgbClr val="FDECEC"/>
                </a:solidFill>
              </a:rPr>
              <a:t> 제3자 검증</a:t>
            </a:r>
            <a:endParaRPr lang="ko-KR" altLang="en-US" sz="1400" dirty="0"/>
          </a:p>
        </p:txBody>
      </p:sp>
      <p:sp>
        <p:nvSpPr>
          <p:cNvPr id="102" name="Shape 102"/>
          <p:cNvSpPr/>
          <p:nvPr/>
        </p:nvSpPr>
        <p:spPr>
          <a:xfrm>
            <a:off x="457200" y="2743200"/>
            <a:ext cx="7162800" cy="355600"/>
          </a:xfrm>
          <a:prstGeom prst="rect">
            <a:avLst/>
          </a:prstGeom>
          <a:noFill/>
          <a:ln w="12700">
            <a:solidFill>
              <a:srgbClr val="EC1F28"/>
            </a:solidFill>
            <a:prstDash val="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어댑터: 형식 변환만 수행 (판정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금액 계산 금지)</a:t>
            </a:r>
            <a:endParaRPr lang="ko-KR" altLang="en-US" sz="1400" dirty="0"/>
          </a:p>
        </p:txBody>
      </p:sp>
      <p:sp>
        <p:nvSpPr>
          <p:cNvPr id="103" name="Shape 103"/>
          <p:cNvSpPr/>
          <p:nvPr/>
        </p:nvSpPr>
        <p:spPr>
          <a:xfrm>
            <a:off x="457200" y="3175000"/>
            <a:ext cx="716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595959"/>
                </a:solidFill>
              </a:rPr>
              <a:t>기존 체계 (그대로 유지)</a:t>
            </a:r>
            <a:endParaRPr lang="ko-KR" altLang="en-US" sz="1300" dirty="0"/>
          </a:p>
        </p:txBody>
      </p:sp>
      <p:sp>
        <p:nvSpPr>
          <p:cNvPr id="104" name="Shape 104"/>
          <p:cNvSpPr/>
          <p:nvPr/>
        </p:nvSpPr>
        <p:spPr>
          <a:xfrm>
            <a:off x="457200" y="3454400"/>
            <a:ext cx="7162800" cy="584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권리 표현 언어</a:t>
            </a:r>
            <a:r>
              <a:rPr lang="ko-KR" altLang="en-US" sz="1500" b="0" dirty="0">
                <a:solidFill>
                  <a:srgbClr val="262626"/>
                </a:solidFill>
              </a:rPr>
              <a:t>   ODRL 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 </a:t>
            </a:r>
            <a:r>
              <a:rPr lang="ko-KR" altLang="en-US" sz="1500" b="0" dirty="0" err="1">
                <a:solidFill>
                  <a:srgbClr val="262626"/>
                </a:solidFill>
              </a:rPr>
              <a:t>ccREL</a:t>
            </a:r>
            <a:r>
              <a:rPr lang="ko-KR" altLang="en-US" sz="1500" b="0" dirty="0">
                <a:solidFill>
                  <a:srgbClr val="262626"/>
                </a:solidFill>
              </a:rPr>
              <a:t> 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 MPEG-21 REL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허락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금지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의무 표현</a:t>
            </a:r>
            <a:endParaRPr lang="ko-KR" altLang="en-US" sz="1300" dirty="0"/>
          </a:p>
        </p:txBody>
      </p:sp>
      <p:sp>
        <p:nvSpPr>
          <p:cNvPr id="105" name="Shape 105"/>
          <p:cNvSpPr/>
          <p:nvPr/>
        </p:nvSpPr>
        <p:spPr>
          <a:xfrm>
            <a:off x="457200" y="4114800"/>
            <a:ext cx="7162800" cy="584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공급망 메시지</a:t>
            </a:r>
            <a:r>
              <a:rPr lang="ko-KR" altLang="en-US" sz="1500" b="0" dirty="0">
                <a:solidFill>
                  <a:srgbClr val="262626"/>
                </a:solidFill>
              </a:rPr>
              <a:t>   CWR 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 DDEX ERN / DSR / RIN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등록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발매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이용 보고 운반</a:t>
            </a:r>
            <a:endParaRPr lang="ko-KR" altLang="en-US" sz="1300" dirty="0"/>
          </a:p>
        </p:txBody>
      </p:sp>
      <p:sp>
        <p:nvSpPr>
          <p:cNvPr id="106" name="Shape 106"/>
          <p:cNvSpPr/>
          <p:nvPr/>
        </p:nvSpPr>
        <p:spPr>
          <a:xfrm>
            <a:off x="457200" y="4775200"/>
            <a:ext cx="7162800" cy="584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식별자</a:t>
            </a:r>
            <a:r>
              <a:rPr lang="ko-KR" altLang="en-US" sz="1500" b="0" dirty="0">
                <a:solidFill>
                  <a:srgbClr val="262626"/>
                </a:solidFill>
              </a:rPr>
              <a:t>   ISWC 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 ISRC 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 ISNI 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 IPI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작품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녹음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주체 식별</a:t>
            </a:r>
            <a:endParaRPr lang="ko-KR" altLang="en-US" sz="1300" dirty="0"/>
          </a:p>
        </p:txBody>
      </p:sp>
      <p:sp>
        <p:nvSpPr>
          <p:cNvPr id="107" name="Shape 107"/>
          <p:cNvSpPr/>
          <p:nvPr/>
        </p:nvSpPr>
        <p:spPr>
          <a:xfrm>
            <a:off x="457200" y="5435600"/>
            <a:ext cx="7162800" cy="584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집중관리 체계</a:t>
            </a:r>
            <a:r>
              <a:rPr lang="ko-KR" altLang="en-US" sz="1500" b="0" dirty="0">
                <a:solidFill>
                  <a:srgbClr val="262626"/>
                </a:solidFill>
              </a:rPr>
              <a:t>   신탁관리단체 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 CMO 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 PRO 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 MRO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징수와 분배</a:t>
            </a:r>
            <a:endParaRPr lang="ko-KR" altLang="en-US" sz="1300" dirty="0"/>
          </a:p>
        </p:txBody>
      </p:sp>
      <p:sp>
        <p:nvSpPr>
          <p:cNvPr id="108" name="Shape 108"/>
          <p:cNvSpPr txBox="1"/>
          <p:nvPr/>
        </p:nvSpPr>
        <p:spPr>
          <a:xfrm>
            <a:off x="8077200" y="16256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기존 표준이 답하지 않는 네 가지 질문</a:t>
            </a:r>
            <a:endParaRPr lang="ko-KR" altLang="en-US" sz="1600" dirty="0"/>
          </a:p>
        </p:txBody>
      </p:sp>
      <p:sp>
        <p:nvSpPr>
          <p:cNvPr id="109" name="Shape 109"/>
          <p:cNvSpPr/>
          <p:nvPr/>
        </p:nvSpPr>
        <p:spPr>
          <a:xfrm>
            <a:off x="8077200" y="2032000"/>
            <a:ext cx="3657600" cy="9144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52400" tIns="76200" rIns="152400" bIns="762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안분</a:t>
            </a:r>
            <a:endParaRPr lang="ko-KR" altLang="en-US" sz="1500" dirty="0"/>
          </a:p>
          <a:p>
            <a:pPr marL="0" indent="0" algn="l" eaLnBrk="0" latinLnBrk="0">
              <a:spcBef>
                <a:spcPts val="2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여러 소스가 쓰인 결과물의 수익을 권리자별로 어떻게 나누는가</a:t>
            </a:r>
            <a:endParaRPr lang="ko-KR" altLang="en-US" sz="1400" dirty="0"/>
          </a:p>
        </p:txBody>
      </p:sp>
      <p:sp>
        <p:nvSpPr>
          <p:cNvPr id="110" name="Shape 110"/>
          <p:cNvSpPr/>
          <p:nvPr/>
        </p:nvSpPr>
        <p:spPr>
          <a:xfrm>
            <a:off x="8077200" y="3048000"/>
            <a:ext cx="3657600" cy="9144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52400" tIns="76200" rIns="152400" bIns="762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이용허락</a:t>
            </a:r>
            <a:endParaRPr lang="ko-KR" altLang="en-US" sz="1500" dirty="0"/>
          </a:p>
          <a:p>
            <a:pPr marL="0" indent="0" algn="l" eaLnBrk="0" latinLnBrk="0">
              <a:spcBef>
                <a:spcPts val="2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특정 채널</a:t>
            </a:r>
            <a:r>
              <a:rPr lang="en-US" altLang="ko-KR" sz="1400" b="0" dirty="0">
                <a:solidFill>
                  <a:srgbClr val="262626"/>
                </a:solidFill>
              </a:rPr>
              <a:t>/</a:t>
            </a:r>
            <a:r>
              <a:rPr lang="ko-KR" altLang="en-US" sz="1400" b="0" dirty="0">
                <a:solidFill>
                  <a:srgbClr val="262626"/>
                </a:solidFill>
              </a:rPr>
              <a:t>지역</a:t>
            </a:r>
            <a:r>
              <a:rPr lang="en-US" altLang="ko-KR" sz="1400" b="0" dirty="0">
                <a:solidFill>
                  <a:srgbClr val="262626"/>
                </a:solidFill>
              </a:rPr>
              <a:t>/</a:t>
            </a:r>
            <a:r>
              <a:rPr lang="ko-KR" altLang="en-US" sz="1400" b="0" dirty="0">
                <a:solidFill>
                  <a:srgbClr val="262626"/>
                </a:solidFill>
              </a:rPr>
              <a:t>기간 유통이 각 소스의 허락 범위 안인가</a:t>
            </a:r>
            <a:endParaRPr lang="ko-KR" altLang="en-US" sz="1400" dirty="0"/>
          </a:p>
        </p:txBody>
      </p:sp>
      <p:sp>
        <p:nvSpPr>
          <p:cNvPr id="111" name="Shape 111"/>
          <p:cNvSpPr/>
          <p:nvPr/>
        </p:nvSpPr>
        <p:spPr>
          <a:xfrm>
            <a:off x="8077200" y="4064000"/>
            <a:ext cx="3657600" cy="9144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52400" tIns="76200" rIns="152400" bIns="762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시점</a:t>
            </a:r>
            <a:endParaRPr lang="ko-KR" altLang="en-US" sz="1500" dirty="0"/>
          </a:p>
          <a:p>
            <a:pPr marL="0" indent="0" algn="l" eaLnBrk="0" latinLnBrk="0">
              <a:spcBef>
                <a:spcPts val="2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이용 후 권리 이전이 등록되면 어느 시점 기준으로 정산하는가</a:t>
            </a:r>
            <a:endParaRPr lang="ko-KR" altLang="en-US" sz="1400" dirty="0"/>
          </a:p>
        </p:txBody>
      </p:sp>
      <p:sp>
        <p:nvSpPr>
          <p:cNvPr id="112" name="Shape 112"/>
          <p:cNvSpPr/>
          <p:nvPr/>
        </p:nvSpPr>
        <p:spPr>
          <a:xfrm>
            <a:off x="8077200" y="5080000"/>
            <a:ext cx="3657600" cy="9144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52400" tIns="76200" rIns="152400" bIns="762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분쟁</a:t>
            </a:r>
            <a:endParaRPr lang="ko-KR" altLang="en-US" sz="1500" dirty="0"/>
          </a:p>
          <a:p>
            <a:pPr marL="0" indent="0" algn="l" eaLnBrk="0" latinLnBrk="0">
              <a:spcBef>
                <a:spcPts val="2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분쟁 중인 몫을 해결 때까지 어떻게 보류하는가</a:t>
            </a:r>
            <a:endParaRPr lang="ko-KR" altLang="en-US" sz="1400" dirty="0"/>
          </a:p>
        </p:txBody>
      </p:sp>
      <p:sp>
        <p:nvSpPr>
          <p:cNvPr id="113" name="Source"/>
          <p:cNvSpPr txBox="1"/>
          <p:nvPr/>
        </p:nvSpPr>
        <p:spPr>
          <a:xfrm>
            <a:off x="457200" y="5943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7F7F7F"/>
                </a:solidFill>
              </a:rPr>
              <a:t>ERN</a:t>
            </a:r>
            <a:r>
              <a:rPr lang="ko-KR" altLang="en-US" sz="1000" dirty="0">
                <a:solidFill>
                  <a:srgbClr val="7F7F7F"/>
                </a:solidFill>
              </a:rPr>
              <a:t> Electronic Release Notification(전자 발매 통지)</a:t>
            </a:r>
            <a:r>
              <a:rPr lang="ko-KR" altLang="en-US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altLang="en-US" sz="1000" b="1" dirty="0">
                <a:solidFill>
                  <a:srgbClr val="7F7F7F"/>
                </a:solidFill>
              </a:rPr>
              <a:t>  DSR</a:t>
            </a:r>
            <a:r>
              <a:rPr lang="ko-KR" altLang="en-US" sz="1000" dirty="0">
                <a:solidFill>
                  <a:srgbClr val="7F7F7F"/>
                </a:solidFill>
              </a:rPr>
              <a:t> Digital Sales Reporting(디지털 판매 보고)</a:t>
            </a:r>
            <a:r>
              <a:rPr lang="ko-KR" altLang="en-US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altLang="en-US" sz="1000" b="1" dirty="0">
                <a:solidFill>
                  <a:srgbClr val="7F7F7F"/>
                </a:solidFill>
              </a:rPr>
              <a:t>  RIN</a:t>
            </a:r>
            <a:r>
              <a:rPr lang="ko-KR" altLang="en-US" sz="1000" dirty="0">
                <a:solidFill>
                  <a:srgbClr val="7F7F7F"/>
                </a:solidFill>
              </a:rPr>
              <a:t> Recording Information Notification(녹음 정보 통지)</a:t>
            </a:r>
            <a:r>
              <a:rPr lang="ko-KR" altLang="en-US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altLang="en-US" sz="1000" b="1" dirty="0">
                <a:solidFill>
                  <a:srgbClr val="7F7F7F"/>
                </a:solidFill>
              </a:rPr>
              <a:t>  CMO</a:t>
            </a:r>
            <a:r>
              <a:rPr lang="ko-KR" altLang="en-US" sz="1000" dirty="0">
                <a:solidFill>
                  <a:srgbClr val="7F7F7F"/>
                </a:solidFill>
              </a:rPr>
              <a:t> Collective Management Organization(집중관리단체)</a:t>
            </a:r>
            <a:r>
              <a:rPr lang="ko-KR" altLang="en-US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altLang="en-US" sz="1000" b="1" dirty="0">
                <a:solidFill>
                  <a:srgbClr val="7F7F7F"/>
                </a:solidFill>
              </a:rPr>
              <a:t>  PRO</a:t>
            </a:r>
            <a:r>
              <a:rPr lang="ko-KR" altLang="en-US" sz="1000" dirty="0">
                <a:solidFill>
                  <a:srgbClr val="7F7F7F"/>
                </a:solidFill>
              </a:rPr>
              <a:t> Performing Rights Organization(공연권 관리단체)</a:t>
            </a:r>
            <a:r>
              <a:rPr lang="ko-KR" altLang="en-US" sz="1000" b="1" dirty="0">
                <a:solidFill>
                  <a:srgbClr val="7F7F7F"/>
                </a:solidFill>
              </a:rPr>
              <a:t>  </a:t>
            </a:r>
            <a:r>
              <a:rPr lang="en-US" altLang="ko-KR" sz="1000" b="1" dirty="0">
                <a:solidFill>
                  <a:srgbClr val="7F7F7F"/>
                </a:solidFill>
              </a:rPr>
              <a:t>/</a:t>
            </a:r>
            <a:r>
              <a:rPr lang="ko-KR" altLang="en-US" sz="1000" b="1" dirty="0">
                <a:solidFill>
                  <a:srgbClr val="7F7F7F"/>
                </a:solidFill>
              </a:rPr>
              <a:t>  MRO</a:t>
            </a:r>
            <a:r>
              <a:rPr lang="ko-KR" altLang="en-US" sz="1000" dirty="0">
                <a:solidFill>
                  <a:srgbClr val="7F7F7F"/>
                </a:solidFill>
              </a:rPr>
              <a:t> Mechanical Rights Organization(기계적 복제권 관리단체)</a:t>
            </a:r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ODRL 연동은 MDRL 판정 결과를 ODRL 정책으로 내보내는 방향만 지원합니다. 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950005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권리 사실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이용허락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안분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정산 원장을 4개 층으로 분리해,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금액이 계산된 것을 허락으로 오인하지 않게 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04  핵심 구조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651000"/>
            <a:ext cx="2667000" cy="88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① 권리 사실 층</a:t>
            </a:r>
            <a:endParaRPr lang="ko-KR" altLang="en-US" sz="17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  <a:latin typeface="Consolas"/>
                <a:ea typeface="맑은 고딕"/>
                <a:cs typeface="Consolas"/>
              </a:rPr>
              <a:t>facts</a:t>
            </a:r>
            <a:endParaRPr lang="ko-KR" altLang="en-US" sz="1300" dirty="0"/>
          </a:p>
        </p:txBody>
      </p:sp>
      <p:sp>
        <p:nvSpPr>
          <p:cNvPr id="102" name="Shape 102"/>
          <p:cNvSpPr/>
          <p:nvPr/>
        </p:nvSpPr>
        <p:spPr>
          <a:xfrm>
            <a:off x="457200" y="2540000"/>
            <a:ext cx="2667000" cy="203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권리 주장, 관리 위임(2단계 이하) 기록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효력 시점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기록 시점 </a:t>
            </a:r>
            <a:r>
              <a:rPr lang="ko-KR" altLang="en-US" sz="1500" b="1" dirty="0">
                <a:solidFill>
                  <a:srgbClr val="262626"/>
                </a:solidFill>
              </a:rPr>
              <a:t>이중 시간축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계산식 없이 사실만 기록</a:t>
            </a:r>
            <a:endParaRPr lang="ko-KR" altLang="en-US" sz="1500" dirty="0"/>
          </a:p>
        </p:txBody>
      </p:sp>
      <p:sp>
        <p:nvSpPr>
          <p:cNvPr id="103" name="Shape 103"/>
          <p:cNvSpPr/>
          <p:nvPr/>
        </p:nvSpPr>
        <p:spPr>
          <a:xfrm>
            <a:off x="3327400" y="1651000"/>
            <a:ext cx="2667000" cy="8890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② 이용허락 판정 층</a:t>
            </a:r>
            <a:endParaRPr lang="ko-KR" altLang="en-US" sz="17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  <a:latin typeface="Consolas"/>
                <a:ea typeface="맑은 고딕"/>
                <a:cs typeface="Consolas"/>
              </a:rPr>
              <a:t>grant</a:t>
            </a:r>
            <a:endParaRPr lang="ko-KR" altLang="en-US" sz="1300" dirty="0"/>
          </a:p>
        </p:txBody>
      </p:sp>
      <p:sp>
        <p:nvSpPr>
          <p:cNvPr id="104" name="Shape 104"/>
          <p:cNvSpPr/>
          <p:nvPr/>
        </p:nvSpPr>
        <p:spPr>
          <a:xfrm>
            <a:off x="3327400" y="2540000"/>
            <a:ext cx="2667000" cy="203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소스별 허락 범위의 </a:t>
            </a:r>
            <a:r>
              <a:rPr lang="ko-KR" altLang="en-US" sz="1500" b="1" dirty="0">
                <a:solidFill>
                  <a:srgbClr val="262626"/>
                </a:solidFill>
              </a:rPr>
              <a:t>교집합</a:t>
            </a:r>
            <a:r>
              <a:rPr lang="ko-KR" altLang="en-US" sz="1500" b="0" dirty="0">
                <a:solidFill>
                  <a:srgbClr val="262626"/>
                </a:solidFill>
              </a:rPr>
              <a:t>만 허용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판정 불가 시 </a:t>
            </a:r>
            <a:r>
              <a:rPr lang="ko-KR" altLang="en-US" sz="1500" b="1" dirty="0">
                <a:solidFill>
                  <a:srgbClr val="262626"/>
                </a:solidFill>
              </a:rPr>
              <a:t>거부(DENY)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결과: 허락 / 거부 + 사유 코드</a:t>
            </a:r>
            <a:endParaRPr lang="ko-KR" altLang="en-US" sz="1500" dirty="0"/>
          </a:p>
        </p:txBody>
      </p:sp>
      <p:sp>
        <p:nvSpPr>
          <p:cNvPr id="105" name="Shape 105"/>
          <p:cNvSpPr/>
          <p:nvPr/>
        </p:nvSpPr>
        <p:spPr>
          <a:xfrm>
            <a:off x="6197600" y="1651000"/>
            <a:ext cx="2667000" cy="88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③ 안분 층</a:t>
            </a:r>
            <a:endParaRPr lang="ko-KR" altLang="en-US" sz="17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  <a:latin typeface="Consolas"/>
                <a:ea typeface="맑은 고딕"/>
                <a:cs typeface="Consolas"/>
              </a:rPr>
              <a:t>allocation</a:t>
            </a:r>
            <a:endParaRPr lang="ko-KR" altLang="en-US" sz="1300" dirty="0"/>
          </a:p>
        </p:txBody>
      </p:sp>
      <p:sp>
        <p:nvSpPr>
          <p:cNvPr id="106" name="Shape 106"/>
          <p:cNvSpPr/>
          <p:nvPr/>
        </p:nvSpPr>
        <p:spPr>
          <a:xfrm>
            <a:off x="6197600" y="2540000"/>
            <a:ext cx="2667000" cy="203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역할별 배분 벡터로 몫 계산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1" dirty="0">
                <a:solidFill>
                  <a:srgbClr val="262626"/>
                </a:solidFill>
              </a:rPr>
              <a:t>1원 단위 금액 보존</a:t>
            </a:r>
            <a:r>
              <a:rPr lang="ko-KR" altLang="en-US" sz="1500" b="0" dirty="0">
                <a:solidFill>
                  <a:srgbClr val="262626"/>
                </a:solidFill>
              </a:rPr>
              <a:t>(계층적 최대 잔여)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분쟁 몫은 그룹 보류, 재분배 금지</a:t>
            </a:r>
            <a:endParaRPr lang="ko-KR" altLang="en-US" sz="1500" dirty="0"/>
          </a:p>
        </p:txBody>
      </p:sp>
      <p:sp>
        <p:nvSpPr>
          <p:cNvPr id="107" name="Shape 107"/>
          <p:cNvSpPr/>
          <p:nvPr/>
        </p:nvSpPr>
        <p:spPr>
          <a:xfrm>
            <a:off x="9067800" y="1651000"/>
            <a:ext cx="2667000" cy="88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④ 정산 원장 층</a:t>
            </a:r>
            <a:endParaRPr lang="ko-KR" altLang="en-US" sz="17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  <a:latin typeface="Consolas"/>
                <a:ea typeface="맑은 고딕"/>
                <a:cs typeface="Consolas"/>
              </a:rPr>
              <a:t>ledger</a:t>
            </a:r>
            <a:endParaRPr lang="ko-KR" altLang="en-US" sz="1300" dirty="0"/>
          </a:p>
        </p:txBody>
      </p:sp>
      <p:sp>
        <p:nvSpPr>
          <p:cNvPr id="108" name="Shape 108"/>
          <p:cNvSpPr/>
          <p:nvPr/>
        </p:nvSpPr>
        <p:spPr>
          <a:xfrm>
            <a:off x="9067800" y="2540000"/>
            <a:ext cx="2667000" cy="203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안분 결과를 </a:t>
            </a:r>
            <a:r>
              <a:rPr lang="ko-KR" altLang="en-US" sz="1500" b="1" dirty="0">
                <a:solidFill>
                  <a:srgbClr val="262626"/>
                </a:solidFill>
              </a:rPr>
              <a:t>수정 없이 적재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보류 사유: 분쟁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허락 미확인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부정 의심</a:t>
            </a:r>
            <a:endParaRPr lang="ko-KR" altLang="en-US" sz="1500" dirty="0"/>
          </a:p>
          <a:p>
            <a:pPr marL="171450" indent="-171450" algn="l" eaLnBrk="0" latinLnBrk="0"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정정은 새 실행으로만 반영</a:t>
            </a:r>
            <a:endParaRPr lang="ko-KR" altLang="en-US" sz="1500" dirty="0"/>
          </a:p>
        </p:txBody>
      </p:sp>
      <p:sp>
        <p:nvSpPr>
          <p:cNvPr id="109" name="Shape 109"/>
          <p:cNvSpPr/>
          <p:nvPr/>
        </p:nvSpPr>
        <p:spPr>
          <a:xfrm>
            <a:off x="457200" y="4851400"/>
            <a:ext cx="11277600" cy="482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공통 기반(마스터 규격):  문서 </a:t>
            </a:r>
            <a:r>
              <a:rPr lang="ko-KR" altLang="en-US" sz="1500" b="1" dirty="0" err="1">
                <a:solidFill>
                  <a:srgbClr val="FFFFFF"/>
                </a:solidFill>
              </a:rPr>
              <a:t>머리부</a:t>
            </a:r>
            <a:r>
              <a:rPr lang="ko-KR" altLang="en-US" sz="1500" b="1" dirty="0">
                <a:solidFill>
                  <a:srgbClr val="FFFFFF"/>
                </a:solidFill>
              </a:rPr>
              <a:t> </a:t>
            </a:r>
            <a:r>
              <a:rPr lang="en-US" altLang="ko-KR" sz="1500" b="1" dirty="0">
                <a:solidFill>
                  <a:srgbClr val="FFFFFF"/>
                </a:solidFill>
              </a:rPr>
              <a:t>/</a:t>
            </a:r>
            <a:r>
              <a:rPr lang="ko-KR" altLang="en-US" sz="1500" b="1" dirty="0">
                <a:solidFill>
                  <a:srgbClr val="FFFFFF"/>
                </a:solidFill>
              </a:rPr>
              <a:t> 타입 시스템 </a:t>
            </a:r>
            <a:r>
              <a:rPr lang="en-US" altLang="ko-KR" sz="1500" b="1" dirty="0">
                <a:solidFill>
                  <a:srgbClr val="FFFFFF"/>
                </a:solidFill>
              </a:rPr>
              <a:t>/</a:t>
            </a:r>
            <a:r>
              <a:rPr lang="ko-KR" altLang="en-US" sz="1500" b="1" dirty="0">
                <a:solidFill>
                  <a:srgbClr val="FFFFFF"/>
                </a:solidFill>
              </a:rPr>
              <a:t> 해시 요약값과 공개 등급 </a:t>
            </a:r>
            <a:r>
              <a:rPr lang="en-US" altLang="ko-KR" sz="1500" b="1" dirty="0">
                <a:solidFill>
                  <a:srgbClr val="FFFFFF"/>
                </a:solidFill>
              </a:rPr>
              <a:t>/</a:t>
            </a:r>
            <a:r>
              <a:rPr lang="ko-KR" altLang="en-US" sz="1500" b="1" dirty="0">
                <a:solidFill>
                  <a:srgbClr val="FFFFFF"/>
                </a:solidFill>
              </a:rPr>
              <a:t> 오류 코드 </a:t>
            </a:r>
            <a:r>
              <a:rPr lang="en-US" altLang="ko-KR" sz="1500" b="1" dirty="0">
                <a:solidFill>
                  <a:srgbClr val="FFFFFF"/>
                </a:solidFill>
              </a:rPr>
              <a:t>/</a:t>
            </a:r>
            <a:r>
              <a:rPr lang="ko-KR" altLang="en-US" sz="1500" b="1" dirty="0">
                <a:solidFill>
                  <a:srgbClr val="FFFFFF"/>
                </a:solidFill>
              </a:rPr>
              <a:t> 확장점 레지스트리</a:t>
            </a:r>
            <a:endParaRPr lang="ko-KR" altLang="en-US" sz="1500" dirty="0"/>
          </a:p>
        </p:txBody>
      </p:sp>
      <p:sp>
        <p:nvSpPr>
          <p:cNvPr id="110" name="Shape 110"/>
          <p:cNvSpPr/>
          <p:nvPr/>
        </p:nvSpPr>
        <p:spPr>
          <a:xfrm>
            <a:off x="457200" y="5511800"/>
            <a:ext cx="11277600" cy="482600"/>
          </a:xfrm>
          <a:prstGeom prst="rect">
            <a:avLst/>
          </a:prstGeom>
          <a:noFill/>
          <a:ln w="12700">
            <a:solidFill>
              <a:srgbClr val="141414"/>
            </a:solidFill>
            <a:prstDash val="dash"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141414"/>
                </a:solidFill>
              </a:rPr>
              <a:t>프로파일(창작 모드별):  보컬 트랙 재배치 </a:t>
            </a:r>
            <a:r>
              <a:rPr lang="en-US" altLang="ko-KR" sz="1500" b="0" dirty="0">
                <a:solidFill>
                  <a:srgbClr val="141414"/>
                </a:solidFill>
              </a:rPr>
              <a:t>/</a:t>
            </a:r>
            <a:r>
              <a:rPr lang="ko-KR" altLang="en-US" sz="1500" b="0" dirty="0">
                <a:solidFill>
                  <a:srgbClr val="141414"/>
                </a:solidFill>
              </a:rPr>
              <a:t> 보컬 추가 녹음 </a:t>
            </a:r>
            <a:r>
              <a:rPr lang="en-US" altLang="ko-KR" sz="1500" b="0" dirty="0">
                <a:solidFill>
                  <a:srgbClr val="141414"/>
                </a:solidFill>
              </a:rPr>
              <a:t>/</a:t>
            </a:r>
            <a:r>
              <a:rPr lang="ko-KR" altLang="en-US" sz="1500" b="0" dirty="0">
                <a:solidFill>
                  <a:srgbClr val="141414"/>
                </a:solidFill>
              </a:rPr>
              <a:t> AI 믹스 </a:t>
            </a:r>
            <a:r>
              <a:rPr lang="en-US" altLang="ko-KR" sz="1500" b="0" dirty="0">
                <a:solidFill>
                  <a:srgbClr val="141414"/>
                </a:solidFill>
              </a:rPr>
              <a:t>/</a:t>
            </a:r>
            <a:r>
              <a:rPr lang="ko-KR" altLang="en-US" sz="1500" b="0" dirty="0">
                <a:solidFill>
                  <a:srgbClr val="141414"/>
                </a:solidFill>
              </a:rPr>
              <a:t> AI 보이스 </a:t>
            </a:r>
            <a:r>
              <a:rPr lang="en-US" altLang="ko-KR" sz="1500" b="0" dirty="0">
                <a:solidFill>
                  <a:srgbClr val="141414"/>
                </a:solidFill>
              </a:rPr>
              <a:t>/</a:t>
            </a:r>
            <a:r>
              <a:rPr lang="ko-KR" altLang="en-US" sz="1500" b="0" dirty="0">
                <a:solidFill>
                  <a:srgbClr val="141414"/>
                </a:solidFill>
              </a:rPr>
              <a:t> 커버/리믹스 </a:t>
            </a:r>
            <a:r>
              <a:rPr lang="en-US" altLang="ko-KR" sz="1500" b="0" dirty="0">
                <a:solidFill>
                  <a:srgbClr val="141414"/>
                </a:solidFill>
              </a:rPr>
              <a:t>/</a:t>
            </a:r>
            <a:r>
              <a:rPr lang="ko-KR" altLang="en-US" sz="1500" b="0" dirty="0">
                <a:solidFill>
                  <a:srgbClr val="141414"/>
                </a:solidFill>
              </a:rPr>
              <a:t> 샘플링</a:t>
            </a:r>
            <a:endParaRPr lang="ko-KR" altLang="en-US" sz="1500" dirty="0"/>
          </a:p>
        </p:txBody>
      </p:sp>
      <p:sp>
        <p:nvSpPr>
          <p:cNvPr id="111" name="Shape 111"/>
          <p:cNvSpPr/>
          <p:nvPr/>
        </p:nvSpPr>
        <p:spPr>
          <a:xfrm>
            <a:off x="457200" y="61722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프로파일은 마스터 규격의 규칙을 강화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추가만 할 수 있고, 완화할 수 없습니다.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280753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8가지 문제마다 대응하는 설계 개념이 있어,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각 문제를 규칙으로 검증할 수 있습니다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04  핵심 구조</a:t>
            </a:r>
            <a:endParaRPr lang="ko-KR" altLang="en-US" sz="1400" dirty="0"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457200" y="1625600"/>
          <a:ext cx="11277600" cy="4267200"/>
        </p:xfrm>
        <a:graphic>
          <a:graphicData uri="http://schemas.openxmlformats.org/drawingml/2006/table">
            <a:tbl>
              <a:tblPr firstRow="1"/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문제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MDRL의 설계 개념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작동 방식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P1 파생 경로 추적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사실 문서와 계산 그래프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사실은 원본 한 곳에, 결과물은 사용량만 참조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P2 역할별 청구 분리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역할별 배분 벡터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작곡</a:t>
                      </a:r>
                      <a:r>
                        <a:rPr lang="en-US" altLang="ko-KR" sz="14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실연</a:t>
                      </a:r>
                      <a:r>
                        <a:rPr lang="en-US" altLang="ko-KR" sz="14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제작 몫을 끝까지 분리, 지급 시에만 합산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P3 비율의 중첩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결정적 안분과 금액 보존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분수로 정확히 계산, 단계마다 1원 단위 합계 일치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P4 허락 범위 승계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교집합 허락 범위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하위 이용은 범위를 좁힐 수만 있음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P5 이용 후 바뀌는 권리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이중 시간축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효력 시점(as_of)과 기록 시점(known_at) 동시 지정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P6 일부 소스 분쟁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분쟁 그룹 보류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분쟁 그룹 몫만 보류, 다른 몫은 정상 지급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P7 기존에 없는 역할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확장점 레지스트리와 프로파일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AI 모델 운영자 등 새 역할을 프로파일이 등록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P8 허락과 정산의 혼동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허락 판정과 안분의 분리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별도 층</a:t>
                      </a:r>
                      <a:r>
                        <a:rPr lang="en-US" altLang="ko-KR" sz="14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문서</a:t>
                      </a:r>
                      <a:r>
                        <a:rPr lang="en-US" altLang="ko-KR" sz="14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오류 코드(GRANT_ / ALLOC_)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2" name="Source"/>
          <p:cNvSpPr txBox="1"/>
          <p:nvPr/>
        </p:nvSpPr>
        <p:spPr>
          <a:xfrm>
            <a:off x="457200" y="62738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공통: 문서는 발행 후 수정하지 않고 새 버전으로만 바꾸며, 해시 요약값과 공개 등급을 가집니다. 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25312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권리 관리 파이프라인은 문서 입력부터 외부 검증까지 8단계로,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각 단계의 산출물을 해시로 고정해 다시 계산할 수 있습니다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05  권리 관리 파이프라인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676400"/>
            <a:ext cx="2552700" cy="1371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01600" rIns="152400" bIns="1016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EC1F28"/>
                </a:solidFill>
              </a:rPr>
              <a:t>1</a:t>
            </a:r>
            <a:endParaRPr lang="ko-KR" altLang="en-US" sz="2000" dirty="0"/>
          </a:p>
          <a:p>
            <a:pPr marL="0" indent="0" algn="l" eaLnBrk="0" latinLnBrk="0"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구문 분석</a:t>
            </a:r>
            <a:r>
              <a:rPr lang="en-US" altLang="ko-KR" sz="1600" b="1" dirty="0">
                <a:solidFill>
                  <a:srgbClr val="141414"/>
                </a:solidFill>
              </a:rPr>
              <a:t>/</a:t>
            </a:r>
            <a:r>
              <a:rPr lang="ko-KR" altLang="en-US" sz="1600" b="1" dirty="0">
                <a:solidFill>
                  <a:srgbClr val="141414"/>
                </a:solidFill>
              </a:rPr>
              <a:t>정규화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텍스트 문서 → 정규 구조 표현 + 해시</a:t>
            </a:r>
            <a:endParaRPr lang="ko-KR" altLang="en-US" sz="1400" dirty="0"/>
          </a:p>
        </p:txBody>
      </p:sp>
      <p:cxnSp>
        <p:nvCxnSpPr>
          <p:cNvPr id="102" name="Line 102"/>
          <p:cNvCxnSpPr/>
          <p:nvPr/>
        </p:nvCxnSpPr>
        <p:spPr>
          <a:xfrm>
            <a:off x="3060700" y="2362200"/>
            <a:ext cx="2540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03" name="Shape 103"/>
          <p:cNvSpPr/>
          <p:nvPr/>
        </p:nvSpPr>
        <p:spPr>
          <a:xfrm>
            <a:off x="3365500" y="1676400"/>
            <a:ext cx="2552700" cy="1371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01600" rIns="152400" bIns="1016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EC1F28"/>
                </a:solidFill>
              </a:rPr>
              <a:t>2</a:t>
            </a:r>
            <a:endParaRPr lang="ko-KR" altLang="en-US" sz="2000" dirty="0"/>
          </a:p>
          <a:p>
            <a:pPr marL="0" indent="0" algn="l" eaLnBrk="0" latinLnBrk="0"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검증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스키마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 err="1">
                <a:solidFill>
                  <a:srgbClr val="404040"/>
                </a:solidFill>
              </a:rPr>
              <a:t>불변식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>
                <a:solidFill>
                  <a:srgbClr val="404040"/>
                </a:solidFill>
              </a:rPr>
              <a:t>의존 해시 검사</a:t>
            </a:r>
            <a:endParaRPr lang="ko-KR" altLang="en-US" sz="1400" dirty="0"/>
          </a:p>
        </p:txBody>
      </p:sp>
      <p:cxnSp>
        <p:nvCxnSpPr>
          <p:cNvPr id="104" name="Line 104"/>
          <p:cNvCxnSpPr/>
          <p:nvPr/>
        </p:nvCxnSpPr>
        <p:spPr>
          <a:xfrm>
            <a:off x="5969000" y="2362200"/>
            <a:ext cx="2540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05" name="Shape 105"/>
          <p:cNvSpPr/>
          <p:nvPr/>
        </p:nvSpPr>
        <p:spPr>
          <a:xfrm>
            <a:off x="6273800" y="1676400"/>
            <a:ext cx="2552700" cy="1371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01600" rIns="152400" bIns="1016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EC1F28"/>
                </a:solidFill>
              </a:rPr>
              <a:t>3</a:t>
            </a:r>
            <a:endParaRPr lang="ko-KR" altLang="en-US" sz="2000" dirty="0"/>
          </a:p>
          <a:p>
            <a:pPr marL="0" indent="0" algn="l" eaLnBrk="0" latinLnBrk="0"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계산 그래프 생성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사실 + 기준 시점 → 역할별 경로</a:t>
            </a:r>
            <a:endParaRPr lang="ko-KR" altLang="en-US" sz="1400" dirty="0"/>
          </a:p>
        </p:txBody>
      </p:sp>
      <p:cxnSp>
        <p:nvCxnSpPr>
          <p:cNvPr id="106" name="Line 106"/>
          <p:cNvCxnSpPr/>
          <p:nvPr/>
        </p:nvCxnSpPr>
        <p:spPr>
          <a:xfrm>
            <a:off x="8877300" y="2362200"/>
            <a:ext cx="2540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07" name="Shape 107"/>
          <p:cNvSpPr/>
          <p:nvPr/>
        </p:nvSpPr>
        <p:spPr>
          <a:xfrm>
            <a:off x="9182100" y="1676400"/>
            <a:ext cx="2552700" cy="13716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101600" rIns="152400" bIns="1016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FFFFFF"/>
                </a:solidFill>
              </a:rPr>
              <a:t>4</a:t>
            </a:r>
            <a:endParaRPr lang="ko-KR" altLang="en-US" sz="2000" dirty="0"/>
          </a:p>
          <a:p>
            <a:pPr marL="0" indent="0" algn="l" eaLnBrk="0" latinLnBrk="0"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이용허락 판정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FDECEC"/>
                </a:solidFill>
              </a:rPr>
              <a:t>교집합 합성 → 허락/거부 + 사유</a:t>
            </a:r>
            <a:endParaRPr lang="ko-KR" altLang="en-US" sz="1400" dirty="0"/>
          </a:p>
        </p:txBody>
      </p:sp>
      <p:sp>
        <p:nvSpPr>
          <p:cNvPr id="108" name="Shape 108"/>
          <p:cNvSpPr/>
          <p:nvPr/>
        </p:nvSpPr>
        <p:spPr>
          <a:xfrm>
            <a:off x="457200" y="3657600"/>
            <a:ext cx="2552700" cy="13716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101600" rIns="152400" bIns="1016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FFFFFF"/>
                </a:solidFill>
              </a:rPr>
              <a:t>5</a:t>
            </a:r>
            <a:endParaRPr lang="ko-KR" altLang="en-US" sz="2000" dirty="0"/>
          </a:p>
          <a:p>
            <a:pPr marL="0" indent="0" algn="l" eaLnBrk="0" latinLnBrk="0"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안분 평가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FDECEC"/>
                </a:solidFill>
              </a:rPr>
              <a:t>정책 + 사용량 → 라인</a:t>
            </a:r>
            <a:r>
              <a:rPr lang="en-US" altLang="ko-KR" sz="1400" b="0" dirty="0">
                <a:solidFill>
                  <a:srgbClr val="FDECEC"/>
                </a:solidFill>
              </a:rPr>
              <a:t>/</a:t>
            </a:r>
            <a:r>
              <a:rPr lang="ko-KR" altLang="en-US" sz="1400" b="0" dirty="0">
                <a:solidFill>
                  <a:srgbClr val="FDECEC"/>
                </a:solidFill>
              </a:rPr>
              <a:t>보류</a:t>
            </a:r>
            <a:r>
              <a:rPr lang="en-US" altLang="ko-KR" sz="1400" b="0" dirty="0">
                <a:solidFill>
                  <a:srgbClr val="FDECEC"/>
                </a:solidFill>
              </a:rPr>
              <a:t>/</a:t>
            </a:r>
            <a:r>
              <a:rPr lang="ko-KR" altLang="en-US" sz="1400" b="0" dirty="0">
                <a:solidFill>
                  <a:srgbClr val="FDECEC"/>
                </a:solidFill>
              </a:rPr>
              <a:t>결과 해시</a:t>
            </a:r>
            <a:endParaRPr lang="ko-KR" altLang="en-US" sz="1400" dirty="0"/>
          </a:p>
        </p:txBody>
      </p:sp>
      <p:cxnSp>
        <p:nvCxnSpPr>
          <p:cNvPr id="109" name="Line 109"/>
          <p:cNvCxnSpPr/>
          <p:nvPr/>
        </p:nvCxnSpPr>
        <p:spPr>
          <a:xfrm>
            <a:off x="3060700" y="4343400"/>
            <a:ext cx="2540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10" name="Shape 110"/>
          <p:cNvSpPr/>
          <p:nvPr/>
        </p:nvSpPr>
        <p:spPr>
          <a:xfrm>
            <a:off x="3365500" y="3657600"/>
            <a:ext cx="2552700" cy="1371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01600" rIns="152400" bIns="1016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EC1F28"/>
                </a:solidFill>
              </a:rPr>
              <a:t>6</a:t>
            </a:r>
            <a:endParaRPr lang="ko-KR" altLang="en-US" sz="2000" dirty="0"/>
          </a:p>
          <a:p>
            <a:pPr marL="0" indent="0" algn="l" eaLnBrk="0" latinLnBrk="0"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원장 인계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결과를 수정 없이 적재</a:t>
            </a:r>
            <a:endParaRPr lang="ko-KR" altLang="en-US" sz="1400" dirty="0"/>
          </a:p>
        </p:txBody>
      </p:sp>
      <p:cxnSp>
        <p:nvCxnSpPr>
          <p:cNvPr id="111" name="Line 111"/>
          <p:cNvCxnSpPr/>
          <p:nvPr/>
        </p:nvCxnSpPr>
        <p:spPr>
          <a:xfrm>
            <a:off x="5969000" y="4343400"/>
            <a:ext cx="2540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12" name="Shape 112"/>
          <p:cNvSpPr/>
          <p:nvPr/>
        </p:nvSpPr>
        <p:spPr>
          <a:xfrm>
            <a:off x="6273800" y="3657600"/>
            <a:ext cx="2552700" cy="1371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01600" rIns="152400" bIns="1016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EC1F28"/>
                </a:solidFill>
              </a:rPr>
              <a:t>7</a:t>
            </a:r>
            <a:endParaRPr lang="ko-KR" altLang="en-US" sz="2000" dirty="0"/>
          </a:p>
          <a:p>
            <a:pPr marL="0" indent="0" algn="l" eaLnBrk="0" latinLnBrk="0"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공개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공개 등급에 따라 </a:t>
            </a:r>
            <a:r>
              <a:rPr lang="ko-KR" altLang="en-US" sz="1400" b="0" dirty="0" err="1">
                <a:solidFill>
                  <a:srgbClr val="404040"/>
                </a:solidFill>
              </a:rPr>
              <a:t>커밋먼트</a:t>
            </a:r>
            <a:r>
              <a:rPr lang="ko-KR" altLang="en-US" sz="1400" b="0" dirty="0">
                <a:solidFill>
                  <a:srgbClr val="404040"/>
                </a:solidFill>
              </a:rPr>
              <a:t> 치환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>
                <a:solidFill>
                  <a:srgbClr val="404040"/>
                </a:solidFill>
              </a:rPr>
              <a:t>서명</a:t>
            </a:r>
            <a:endParaRPr lang="ko-KR" altLang="en-US" sz="1400" dirty="0"/>
          </a:p>
        </p:txBody>
      </p:sp>
      <p:cxnSp>
        <p:nvCxnSpPr>
          <p:cNvPr id="113" name="Line 113"/>
          <p:cNvCxnSpPr/>
          <p:nvPr/>
        </p:nvCxnSpPr>
        <p:spPr>
          <a:xfrm>
            <a:off x="8877300" y="4343400"/>
            <a:ext cx="2540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14" name="Shape 114"/>
          <p:cNvSpPr/>
          <p:nvPr/>
        </p:nvSpPr>
        <p:spPr>
          <a:xfrm>
            <a:off x="9182100" y="3657600"/>
            <a:ext cx="2552700" cy="1371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01600" rIns="152400" bIns="1016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EC1F28"/>
                </a:solidFill>
              </a:rPr>
              <a:t>8</a:t>
            </a:r>
            <a:endParaRPr lang="ko-KR" altLang="en-US" sz="2000" dirty="0"/>
          </a:p>
          <a:p>
            <a:pPr marL="0" indent="0" algn="l" eaLnBrk="0" latinLnBrk="0"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rgbClr val="141414"/>
                </a:solidFill>
              </a:rPr>
              <a:t>외부 검증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레퍼런스 평가기로 재계산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>
                <a:solidFill>
                  <a:srgbClr val="404040"/>
                </a:solidFill>
              </a:rPr>
              <a:t>해시 대조</a:t>
            </a:r>
            <a:endParaRPr lang="ko-KR" altLang="en-US" sz="1400" dirty="0"/>
          </a:p>
        </p:txBody>
      </p:sp>
      <p:cxnSp>
        <p:nvCxnSpPr>
          <p:cNvPr id="115" name="Line 115"/>
          <p:cNvCxnSpPr/>
          <p:nvPr/>
        </p:nvCxnSpPr>
        <p:spPr>
          <a:xfrm>
            <a:off x="10458450" y="3086100"/>
            <a:ext cx="0" cy="266700"/>
          </a:xfrm>
          <a:prstGeom prst="line">
            <a:avLst/>
          </a:prstGeom>
          <a:ln w="25400">
            <a:solidFill>
              <a:srgbClr val="EC1F28"/>
            </a:solidFill>
          </a:ln>
        </p:spPr>
      </p:cxnSp>
      <p:cxnSp>
        <p:nvCxnSpPr>
          <p:cNvPr id="116" name="Line 116"/>
          <p:cNvCxnSpPr/>
          <p:nvPr/>
        </p:nvCxnSpPr>
        <p:spPr>
          <a:xfrm flipH="1">
            <a:off x="1733550" y="3352800"/>
            <a:ext cx="8724900" cy="0"/>
          </a:xfrm>
          <a:prstGeom prst="line">
            <a:avLst/>
          </a:prstGeom>
          <a:ln w="25400">
            <a:solidFill>
              <a:srgbClr val="EC1F28"/>
            </a:solidFill>
          </a:ln>
        </p:spPr>
      </p:cxnSp>
      <p:cxnSp>
        <p:nvCxnSpPr>
          <p:cNvPr id="117" name="Line 117"/>
          <p:cNvCxnSpPr/>
          <p:nvPr/>
        </p:nvCxnSpPr>
        <p:spPr>
          <a:xfrm>
            <a:off x="1733550" y="3352800"/>
            <a:ext cx="0" cy="26670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18" name="Shape 118"/>
          <p:cNvSpPr/>
          <p:nvPr/>
        </p:nvSpPr>
        <p:spPr>
          <a:xfrm>
            <a:off x="457200" y="5283200"/>
            <a:ext cx="11277600" cy="6096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④ 허락 판정과 ⑤ 안분은 서로 다른 결과를 냅니다.</a:t>
            </a:r>
            <a:r>
              <a:rPr lang="ko-KR" altLang="en-US" sz="1400" b="0" dirty="0">
                <a:solidFill>
                  <a:srgbClr val="262626"/>
                </a:solidFill>
              </a:rPr>
              <a:t> 허락 없는 이용의 매출도 안분은 계산되지만, 원장에서 “허락 미확인” 보류로 처리되어 이용을 정당화하지 않습니다.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56296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플랫폼과 관리단체는 기존 저장소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원장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표준을 그대로 두고,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입력과 원장 인계 두 지점에서만 MDRL과 연결됩니다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06  타 플랫폼(시스템)과 연계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625600"/>
            <a:ext cx="3429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595959"/>
                </a:solidFill>
              </a:rPr>
              <a:t>기존 시스템 (유지)</a:t>
            </a:r>
            <a:endParaRPr lang="ko-KR" altLang="en-US" sz="1600" dirty="0"/>
          </a:p>
        </p:txBody>
      </p:sp>
      <p:sp>
        <p:nvSpPr>
          <p:cNvPr id="102" name="Shape 102"/>
          <p:cNvSpPr/>
          <p:nvPr/>
        </p:nvSpPr>
        <p:spPr>
          <a:xfrm>
            <a:off x="4381500" y="1625600"/>
            <a:ext cx="3429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EC1F28"/>
                </a:solidFill>
              </a:rPr>
              <a:t>MDRL 실행 엔진</a:t>
            </a:r>
            <a:endParaRPr lang="ko-KR" altLang="en-US" sz="1600" dirty="0"/>
          </a:p>
        </p:txBody>
      </p:sp>
      <p:sp>
        <p:nvSpPr>
          <p:cNvPr id="103" name="Shape 103"/>
          <p:cNvSpPr/>
          <p:nvPr/>
        </p:nvSpPr>
        <p:spPr>
          <a:xfrm>
            <a:off x="8305800" y="1625600"/>
            <a:ext cx="3429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595959"/>
                </a:solidFill>
              </a:rPr>
              <a:t>기존 시스템 (유지)</a:t>
            </a:r>
            <a:endParaRPr lang="ko-KR" altLang="en-US" sz="1600" dirty="0"/>
          </a:p>
        </p:txBody>
      </p:sp>
      <p:sp>
        <p:nvSpPr>
          <p:cNvPr id="104" name="Shape 104"/>
          <p:cNvSpPr/>
          <p:nvPr/>
        </p:nvSpPr>
        <p:spPr>
          <a:xfrm>
            <a:off x="4305300" y="1981200"/>
            <a:ext cx="3581400" cy="36830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5" name="Shape 105"/>
          <p:cNvSpPr/>
          <p:nvPr/>
        </p:nvSpPr>
        <p:spPr>
          <a:xfrm>
            <a:off x="457200" y="2057400"/>
            <a:ext cx="34290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권리 사실 저장소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당사자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작품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녹음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크레딧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위임</a:t>
            </a:r>
            <a:endParaRPr lang="ko-KR" altLang="en-US" sz="1300" dirty="0"/>
          </a:p>
        </p:txBody>
      </p:sp>
      <p:sp>
        <p:nvSpPr>
          <p:cNvPr id="106" name="Shape 106"/>
          <p:cNvSpPr/>
          <p:nvPr/>
        </p:nvSpPr>
        <p:spPr>
          <a:xfrm>
            <a:off x="4381500" y="2057400"/>
            <a:ext cx="3429000" cy="7874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어댑터부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FDECEC"/>
                </a:solidFill>
              </a:rPr>
              <a:t>형식 변환만 (판정</a:t>
            </a:r>
            <a:r>
              <a:rPr lang="en-US" altLang="ko-KR" sz="1300" b="0" dirty="0">
                <a:solidFill>
                  <a:srgbClr val="FDECEC"/>
                </a:solidFill>
              </a:rPr>
              <a:t>/</a:t>
            </a:r>
            <a:r>
              <a:rPr lang="ko-KR" altLang="en-US" sz="1300" b="0" dirty="0">
                <a:solidFill>
                  <a:srgbClr val="FDECEC"/>
                </a:solidFill>
              </a:rPr>
              <a:t>계산 금지)</a:t>
            </a:r>
            <a:endParaRPr lang="ko-KR" altLang="en-US" sz="1300" dirty="0"/>
          </a:p>
        </p:txBody>
      </p:sp>
      <p:sp>
        <p:nvSpPr>
          <p:cNvPr id="107" name="Shape 107"/>
          <p:cNvSpPr/>
          <p:nvPr/>
        </p:nvSpPr>
        <p:spPr>
          <a:xfrm>
            <a:off x="8305800" y="2057400"/>
            <a:ext cx="34290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정산 원장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분배 라인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보류 계정 그대로 적재</a:t>
            </a:r>
            <a:endParaRPr lang="ko-KR" altLang="en-US" sz="1300" dirty="0"/>
          </a:p>
        </p:txBody>
      </p:sp>
      <p:cxnSp>
        <p:nvCxnSpPr>
          <p:cNvPr id="108" name="Line 108"/>
          <p:cNvCxnSpPr/>
          <p:nvPr/>
        </p:nvCxnSpPr>
        <p:spPr>
          <a:xfrm>
            <a:off x="3937000" y="2451100"/>
            <a:ext cx="317500" cy="0"/>
          </a:xfrm>
          <a:prstGeom prst="line">
            <a:avLst/>
          </a:prstGeom>
          <a:ln w="19050">
            <a:solidFill>
              <a:srgbClr val="EC1F28"/>
            </a:solidFill>
            <a:tailEnd type="triangle" w="med" len="med"/>
          </a:ln>
        </p:spPr>
      </p:cxnSp>
      <p:cxnSp>
        <p:nvCxnSpPr>
          <p:cNvPr id="109" name="Line 109"/>
          <p:cNvCxnSpPr/>
          <p:nvPr/>
        </p:nvCxnSpPr>
        <p:spPr>
          <a:xfrm>
            <a:off x="7937500" y="2451100"/>
            <a:ext cx="317500" cy="0"/>
          </a:xfrm>
          <a:prstGeom prst="line">
            <a:avLst/>
          </a:prstGeom>
          <a:ln w="19050">
            <a:solidFill>
              <a:srgbClr val="EC1F28"/>
            </a:solidFill>
            <a:tailEnd type="triangle" w="med" len="med"/>
          </a:ln>
        </p:spPr>
      </p:cxnSp>
      <p:sp>
        <p:nvSpPr>
          <p:cNvPr id="110" name="Shape 110"/>
          <p:cNvSpPr/>
          <p:nvPr/>
        </p:nvSpPr>
        <p:spPr>
          <a:xfrm>
            <a:off x="457200" y="2971800"/>
            <a:ext cx="34290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동의</a:t>
            </a:r>
            <a:r>
              <a:rPr lang="en-US" altLang="ko-KR" sz="1500" b="1" dirty="0">
                <a:solidFill>
                  <a:srgbClr val="141414"/>
                </a:solidFill>
              </a:rPr>
              <a:t>/</a:t>
            </a:r>
            <a:r>
              <a:rPr lang="ko-KR" altLang="en-US" sz="1500" b="1" dirty="0">
                <a:solidFill>
                  <a:srgbClr val="141414"/>
                </a:solidFill>
              </a:rPr>
              <a:t>허락 확인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동의 계층, 지역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행위 범위</a:t>
            </a:r>
            <a:endParaRPr lang="ko-KR" altLang="en-US" sz="1300" dirty="0"/>
          </a:p>
        </p:txBody>
      </p:sp>
      <p:sp>
        <p:nvSpPr>
          <p:cNvPr id="111" name="Shape 111"/>
          <p:cNvSpPr/>
          <p:nvPr/>
        </p:nvSpPr>
        <p:spPr>
          <a:xfrm>
            <a:off x="4381500" y="2971800"/>
            <a:ext cx="3429000" cy="7874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문서</a:t>
            </a:r>
            <a:r>
              <a:rPr lang="en-US" altLang="ko-KR" sz="1500" b="1" dirty="0">
                <a:solidFill>
                  <a:srgbClr val="FFFFFF"/>
                </a:solidFill>
              </a:rPr>
              <a:t>/</a:t>
            </a:r>
            <a:r>
              <a:rPr lang="ko-KR" altLang="en-US" sz="1500" b="1" dirty="0">
                <a:solidFill>
                  <a:srgbClr val="FFFFFF"/>
                </a:solidFill>
              </a:rPr>
              <a:t>권리 사실 저장부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FDECEC"/>
                </a:solidFill>
              </a:rPr>
              <a:t>새 버전 추가만, 기존 행 수정 없음</a:t>
            </a:r>
            <a:endParaRPr lang="ko-KR" altLang="en-US" sz="1300" dirty="0"/>
          </a:p>
        </p:txBody>
      </p:sp>
      <p:sp>
        <p:nvSpPr>
          <p:cNvPr id="112" name="Shape 112"/>
          <p:cNvSpPr/>
          <p:nvPr/>
        </p:nvSpPr>
        <p:spPr>
          <a:xfrm>
            <a:off x="8305800" y="2971800"/>
            <a:ext cx="34290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정책 거버넌스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초안→승인→활성, 직무 분리</a:t>
            </a:r>
            <a:endParaRPr lang="ko-KR" altLang="en-US" sz="1300" dirty="0"/>
          </a:p>
        </p:txBody>
      </p:sp>
      <p:cxnSp>
        <p:nvCxnSpPr>
          <p:cNvPr id="113" name="Line 113"/>
          <p:cNvCxnSpPr/>
          <p:nvPr/>
        </p:nvCxnSpPr>
        <p:spPr>
          <a:xfrm>
            <a:off x="3937000" y="3365500"/>
            <a:ext cx="317500" cy="0"/>
          </a:xfrm>
          <a:prstGeom prst="line">
            <a:avLst/>
          </a:prstGeom>
          <a:ln w="19050">
            <a:solidFill>
              <a:srgbClr val="EC1F28"/>
            </a:solidFill>
            <a:tailEnd type="triangle" w="med" len="med"/>
          </a:ln>
        </p:spPr>
      </p:cxnSp>
      <p:cxnSp>
        <p:nvCxnSpPr>
          <p:cNvPr id="114" name="Line 114"/>
          <p:cNvCxnSpPr/>
          <p:nvPr/>
        </p:nvCxnSpPr>
        <p:spPr>
          <a:xfrm>
            <a:off x="7937500" y="3365500"/>
            <a:ext cx="317500" cy="0"/>
          </a:xfrm>
          <a:prstGeom prst="line">
            <a:avLst/>
          </a:prstGeom>
          <a:ln w="19050">
            <a:solidFill>
              <a:srgbClr val="EC1F28"/>
            </a:solidFill>
            <a:tailEnd type="triangle" w="med" len="med"/>
          </a:ln>
        </p:spPr>
      </p:cxnSp>
      <p:sp>
        <p:nvSpPr>
          <p:cNvPr id="115" name="Shape 115"/>
          <p:cNvSpPr/>
          <p:nvPr/>
        </p:nvSpPr>
        <p:spPr>
          <a:xfrm>
            <a:off x="457200" y="3886200"/>
            <a:ext cx="34290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수익 이벤트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이용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판매 행, 부정 의심 표시</a:t>
            </a:r>
            <a:endParaRPr lang="ko-KR" altLang="en-US" sz="1300" dirty="0"/>
          </a:p>
        </p:txBody>
      </p:sp>
      <p:sp>
        <p:nvSpPr>
          <p:cNvPr id="116" name="Shape 116"/>
          <p:cNvSpPr/>
          <p:nvPr/>
        </p:nvSpPr>
        <p:spPr>
          <a:xfrm>
            <a:off x="4381500" y="3886200"/>
            <a:ext cx="3429000" cy="7874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이용허락 </a:t>
            </a:r>
            <a:r>
              <a:rPr lang="ko-KR" altLang="en-US" sz="1500" b="1" dirty="0" err="1">
                <a:solidFill>
                  <a:srgbClr val="FFFFFF"/>
                </a:solidFill>
              </a:rPr>
              <a:t>판정부</a:t>
            </a:r>
            <a:r>
              <a:rPr lang="ko-KR" altLang="en-US" sz="1500" b="1" dirty="0">
                <a:solidFill>
                  <a:srgbClr val="FFFFFF"/>
                </a:solidFill>
              </a:rPr>
              <a:t> </a:t>
            </a:r>
            <a:r>
              <a:rPr lang="en-US" altLang="ko-KR" sz="1500" b="1" dirty="0">
                <a:solidFill>
                  <a:srgbClr val="FFFFFF"/>
                </a:solidFill>
              </a:rPr>
              <a:t>/</a:t>
            </a:r>
            <a:r>
              <a:rPr lang="ko-KR" altLang="en-US" sz="1500" b="1" dirty="0">
                <a:solidFill>
                  <a:srgbClr val="FFFFFF"/>
                </a:solidFill>
              </a:rPr>
              <a:t> 안분 평가부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FDECEC"/>
                </a:solidFill>
              </a:rPr>
              <a:t>같은 입력, 같은 결과</a:t>
            </a:r>
            <a:endParaRPr lang="ko-KR" altLang="en-US" sz="1300" dirty="0"/>
          </a:p>
        </p:txBody>
      </p:sp>
      <p:sp>
        <p:nvSpPr>
          <p:cNvPr id="117" name="Shape 117"/>
          <p:cNvSpPr/>
          <p:nvPr/>
        </p:nvSpPr>
        <p:spPr>
          <a:xfrm>
            <a:off x="8305800" y="3886200"/>
            <a:ext cx="34290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감사</a:t>
            </a:r>
            <a:r>
              <a:rPr lang="en-US" altLang="ko-KR" sz="1500" b="1" dirty="0">
                <a:solidFill>
                  <a:srgbClr val="141414"/>
                </a:solidFill>
              </a:rPr>
              <a:t>/</a:t>
            </a:r>
            <a:r>
              <a:rPr lang="ko-KR" altLang="en-US" sz="1500" b="1" dirty="0">
                <a:solidFill>
                  <a:srgbClr val="141414"/>
                </a:solidFill>
              </a:rPr>
              <a:t>검사 도구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계산 경로 추적 기록</a:t>
            </a:r>
            <a:endParaRPr lang="ko-KR" altLang="en-US" sz="1300" dirty="0"/>
          </a:p>
        </p:txBody>
      </p:sp>
      <p:cxnSp>
        <p:nvCxnSpPr>
          <p:cNvPr id="118" name="Line 118"/>
          <p:cNvCxnSpPr/>
          <p:nvPr/>
        </p:nvCxnSpPr>
        <p:spPr>
          <a:xfrm>
            <a:off x="3937000" y="4279900"/>
            <a:ext cx="317500" cy="0"/>
          </a:xfrm>
          <a:prstGeom prst="line">
            <a:avLst/>
          </a:prstGeom>
          <a:ln w="19050">
            <a:solidFill>
              <a:srgbClr val="EC1F28"/>
            </a:solidFill>
            <a:tailEnd type="triangle" w="med" len="med"/>
          </a:ln>
        </p:spPr>
      </p:cxnSp>
      <p:cxnSp>
        <p:nvCxnSpPr>
          <p:cNvPr id="119" name="Line 119"/>
          <p:cNvCxnSpPr/>
          <p:nvPr/>
        </p:nvCxnSpPr>
        <p:spPr>
          <a:xfrm>
            <a:off x="7937500" y="4279900"/>
            <a:ext cx="317500" cy="0"/>
          </a:xfrm>
          <a:prstGeom prst="line">
            <a:avLst/>
          </a:prstGeom>
          <a:ln w="19050">
            <a:solidFill>
              <a:srgbClr val="EC1F28"/>
            </a:solidFill>
            <a:tailEnd type="triangle" w="med" len="med"/>
          </a:ln>
        </p:spPr>
      </p:cxnSp>
      <p:sp>
        <p:nvSpPr>
          <p:cNvPr id="120" name="Shape 120"/>
          <p:cNvSpPr/>
          <p:nvPr/>
        </p:nvSpPr>
        <p:spPr>
          <a:xfrm>
            <a:off x="457200" y="4800600"/>
            <a:ext cx="34290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식별자</a:t>
            </a:r>
            <a:r>
              <a:rPr lang="en-US" altLang="ko-KR" sz="1500" b="1" dirty="0">
                <a:solidFill>
                  <a:srgbClr val="141414"/>
                </a:solidFill>
              </a:rPr>
              <a:t>/</a:t>
            </a:r>
            <a:r>
              <a:rPr lang="ko-KR" altLang="en-US" sz="1500" b="1" dirty="0">
                <a:solidFill>
                  <a:srgbClr val="141414"/>
                </a:solidFill>
              </a:rPr>
              <a:t>공급망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ISWC 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 ISRC 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 CWR </a:t>
            </a:r>
            <a:r>
              <a:rPr lang="en-US" altLang="ko-KR" sz="1300" b="0" dirty="0">
                <a:solidFill>
                  <a:srgbClr val="595959"/>
                </a:solidFill>
              </a:rPr>
              <a:t>/</a:t>
            </a:r>
            <a:r>
              <a:rPr lang="ko-KR" altLang="en-US" sz="1300" b="0" dirty="0">
                <a:solidFill>
                  <a:srgbClr val="595959"/>
                </a:solidFill>
              </a:rPr>
              <a:t> DDEX</a:t>
            </a:r>
            <a:endParaRPr lang="ko-KR" altLang="en-US" sz="1300" dirty="0"/>
          </a:p>
        </p:txBody>
      </p:sp>
      <p:sp>
        <p:nvSpPr>
          <p:cNvPr id="121" name="Shape 121"/>
          <p:cNvSpPr/>
          <p:nvPr/>
        </p:nvSpPr>
        <p:spPr>
          <a:xfrm>
            <a:off x="4381500" y="4800600"/>
            <a:ext cx="3429000" cy="7874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확장점 레지스트리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FDECEC"/>
                </a:solidFill>
              </a:rPr>
              <a:t>창작 모드별 프로파일 등록</a:t>
            </a:r>
            <a:endParaRPr lang="ko-KR" altLang="en-US" sz="1300" dirty="0"/>
          </a:p>
        </p:txBody>
      </p:sp>
      <p:sp>
        <p:nvSpPr>
          <p:cNvPr id="122" name="Shape 122"/>
          <p:cNvSpPr/>
          <p:nvPr/>
        </p:nvSpPr>
        <p:spPr>
          <a:xfrm>
            <a:off x="8305800" y="4800600"/>
            <a:ext cx="3429000" cy="78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ODRL 내보내기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허락 판정 → ODRL 정책</a:t>
            </a:r>
            <a:endParaRPr lang="ko-KR" altLang="en-US" sz="1300" dirty="0"/>
          </a:p>
        </p:txBody>
      </p:sp>
      <p:cxnSp>
        <p:nvCxnSpPr>
          <p:cNvPr id="123" name="Line 123"/>
          <p:cNvCxnSpPr/>
          <p:nvPr/>
        </p:nvCxnSpPr>
        <p:spPr>
          <a:xfrm>
            <a:off x="3937000" y="5194300"/>
            <a:ext cx="317500" cy="0"/>
          </a:xfrm>
          <a:prstGeom prst="line">
            <a:avLst/>
          </a:prstGeom>
          <a:ln w="19050">
            <a:solidFill>
              <a:srgbClr val="EC1F28"/>
            </a:solidFill>
            <a:tailEnd type="triangle" w="med" len="med"/>
          </a:ln>
        </p:spPr>
      </p:cxnSp>
      <p:cxnSp>
        <p:nvCxnSpPr>
          <p:cNvPr id="124" name="Line 124"/>
          <p:cNvCxnSpPr/>
          <p:nvPr/>
        </p:nvCxnSpPr>
        <p:spPr>
          <a:xfrm>
            <a:off x="7937500" y="5194300"/>
            <a:ext cx="317500" cy="0"/>
          </a:xfrm>
          <a:prstGeom prst="line">
            <a:avLst/>
          </a:prstGeom>
          <a:ln w="19050">
            <a:solidFill>
              <a:srgbClr val="EC1F28"/>
            </a:solidFill>
            <a:tailEnd type="triangle" w="med" len="med"/>
          </a:ln>
        </p:spPr>
      </p:cxnSp>
      <p:sp>
        <p:nvSpPr>
          <p:cNvPr id="125" name="Shape 125"/>
          <p:cNvSpPr/>
          <p:nvPr/>
        </p:nvSpPr>
        <p:spPr>
          <a:xfrm>
            <a:off x="457200" y="58166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늦게 도착한 권리 사실은 새 버전으로 게시되고 새 실행으로 재계산되며, 원래 결과는 그대로 남습니다.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24805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예시 ①  결과물의 허락 범위는 소스별 허락의 교집합이어서,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X001의 해외 배포는 금액과 관계없이 거부됩니다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07  권리의 생성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동의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승인 예시</a:t>
            </a:r>
            <a:endParaRPr lang="ko-KR" altLang="en-US" sz="1400" dirty="0"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271098"/>
              </p:ext>
            </p:extLst>
          </p:nvPr>
        </p:nvGraphicFramePr>
        <p:xfrm>
          <a:off x="457200" y="1676400"/>
          <a:ext cx="7112000" cy="3632200"/>
        </p:xfrm>
        <a:graphic>
          <a:graphicData uri="http://schemas.openxmlformats.org/drawingml/2006/table">
            <a:tbl>
              <a:tblPr firstRow="1"/>
              <a:tblGrid>
                <a:gridCol w="330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소스 (권리자)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국내 앱 재생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숏폼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해외 앱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작품 W001 (작곡 </a:t>
                      </a:r>
                      <a:r>
                        <a:rPr lang="ko-KR" altLang="en-US" sz="1500" b="1" dirty="0" err="1">
                          <a:solidFill>
                            <a:srgbClr val="141414"/>
                          </a:solidFill>
                        </a:rPr>
                        <a:t>A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 작사 B)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허락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원 녹음 R001 (제작자 L)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허락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원 보컬 V1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허락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코러스 V2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허락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허락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신규 보컬 V3 (R002)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허락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141414"/>
                          </a:solidFill>
                        </a:rPr>
                        <a:t>결과물 X001 (교집합)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허락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거부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dirty="0">
                          <a:solidFill>
                            <a:srgbClr val="262626"/>
                          </a:solidFill>
                        </a:rPr>
                        <a:t>거부</a:t>
                      </a:r>
                      <a:endParaRPr lang="ko-KR" altLang="en-US" sz="15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2" name="Shape 102"/>
          <p:cNvSpPr/>
          <p:nvPr/>
        </p:nvSpPr>
        <p:spPr>
          <a:xfrm>
            <a:off x="7874000" y="1676400"/>
            <a:ext cx="3860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판정 요청: X001을 해외 앱에 배포</a:t>
            </a:r>
            <a:endParaRPr lang="ko-KR" altLang="en-US" sz="1500" dirty="0"/>
          </a:p>
        </p:txBody>
      </p:sp>
      <p:sp>
        <p:nvSpPr>
          <p:cNvPr id="103" name="Shape 103"/>
          <p:cNvSpPr/>
          <p:nvPr/>
        </p:nvSpPr>
        <p:spPr>
          <a:xfrm>
            <a:off x="7874000" y="2082800"/>
            <a:ext cx="3860800" cy="1219200"/>
          </a:xfrm>
          <a:prstGeom prst="rect">
            <a:avLst/>
          </a:prstGeom>
          <a:noFill/>
          <a:ln w="19050">
            <a:solidFill>
              <a:srgbClr val="EC1F28"/>
            </a:solidFill>
          </a:ln>
        </p:spPr>
        <p:txBody>
          <a:bodyPr wrap="square" lIns="203200" tIns="45720" rIns="2032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dirty="0">
                <a:solidFill>
                  <a:srgbClr val="EC1F28"/>
                </a:solidFill>
              </a:rPr>
              <a:t>DENY</a:t>
            </a:r>
            <a:endParaRPr lang="ko-KR" altLang="en-US" sz="3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사유: V3 등 소스가 “국내 앱”만 허락</a:t>
            </a:r>
            <a:endParaRPr lang="ko-KR" altLang="en-US" sz="1400" dirty="0"/>
          </a:p>
        </p:txBody>
      </p:sp>
      <p:sp>
        <p:nvSpPr>
          <p:cNvPr id="104" name="Shape 104"/>
          <p:cNvSpPr/>
          <p:nvPr/>
        </p:nvSpPr>
        <p:spPr>
          <a:xfrm>
            <a:off x="7874000" y="3505200"/>
            <a:ext cx="38608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하위 이용은 상위 범위를 </a:t>
            </a:r>
            <a:r>
              <a:rPr lang="ko-KR" altLang="en-US" sz="1500" b="1" dirty="0">
                <a:solidFill>
                  <a:srgbClr val="262626"/>
                </a:solidFill>
              </a:rPr>
              <a:t>좁힐 수만 있고</a:t>
            </a:r>
            <a:r>
              <a:rPr lang="ko-KR" altLang="en-US" sz="1500" b="0" dirty="0">
                <a:solidFill>
                  <a:srgbClr val="262626"/>
                </a:solidFill>
              </a:rPr>
              <a:t> 넓힐 수 없습니다.</a:t>
            </a:r>
            <a:endParaRPr lang="ko-KR" altLang="en-US" sz="1500" dirty="0"/>
          </a:p>
          <a:p>
            <a:pPr marL="171450" indent="-171450" algn="l" eaLnBrk="0" latinLnBrk="0">
              <a:spcBef>
                <a:spcPts val="8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판정할 수 없는 경우(권리 정보 미등록 등)는 </a:t>
            </a:r>
            <a:r>
              <a:rPr lang="ko-KR" altLang="en-US" sz="1500" b="1" dirty="0">
                <a:solidFill>
                  <a:srgbClr val="262626"/>
                </a:solidFill>
              </a:rPr>
              <a:t>거부</a:t>
            </a:r>
            <a:r>
              <a:rPr lang="ko-KR" altLang="en-US" sz="1500" b="0" dirty="0">
                <a:solidFill>
                  <a:srgbClr val="262626"/>
                </a:solidFill>
              </a:rPr>
              <a:t>가 기본입니다.</a:t>
            </a:r>
            <a:endParaRPr lang="ko-KR" altLang="en-US" sz="1500" dirty="0"/>
          </a:p>
          <a:p>
            <a:pPr marL="171450" indent="-171450" algn="l" eaLnBrk="0" latinLnBrk="0">
              <a:spcBef>
                <a:spcPts val="8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안분 금액이 계산되어도 </a:t>
            </a:r>
            <a:r>
              <a:rPr lang="ko-KR" altLang="en-US" sz="1500" b="1" dirty="0">
                <a:solidFill>
                  <a:srgbClr val="262626"/>
                </a:solidFill>
              </a:rPr>
              <a:t>허락을 대신하지 않습니다.</a:t>
            </a:r>
            <a:endParaRPr lang="ko-KR" altLang="en-US" sz="1500" dirty="0"/>
          </a:p>
        </p:txBody>
      </p:sp>
      <p:sp>
        <p:nvSpPr>
          <p:cNvPr id="105" name="Source"/>
          <p:cNvSpPr txBox="1"/>
          <p:nvPr/>
        </p:nvSpPr>
        <p:spPr>
          <a:xfrm>
            <a:off x="457200" y="62738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가상 사례 W001 “별빛”. 허락 범위는 행위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지역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매체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기간을 모두 포함하며 여기서는 채널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지역만 표시했습니다. 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62451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예시 ②  매출 10,000원 중 권리자 몫 7,000원을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역할별로 나누고, 합계는 1원 단위까지 맞습니다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07  권리의 생성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동의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승인 예시</a:t>
            </a:r>
            <a:endParaRPr lang="ko-KR" altLang="en-US" sz="1400" dirty="0"/>
          </a:p>
        </p:txBody>
      </p:sp>
      <p:sp>
        <p:nvSpPr>
          <p:cNvPr id="101" name="Chart label"/>
          <p:cNvSpPr txBox="1"/>
          <p:nvPr/>
        </p:nvSpPr>
        <p:spPr>
          <a:xfrm>
            <a:off x="457200" y="1625600"/>
            <a:ext cx="558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매출에서 권리자 배분 풀까지</a:t>
            </a:r>
            <a:endParaRPr lang="ko-KR" altLang="en-US" sz="1500" dirty="0"/>
          </a:p>
        </p:txBody>
      </p:sp>
      <p:sp>
        <p:nvSpPr>
          <p:cNvPr id="102" name="Shape 102"/>
          <p:cNvSpPr txBox="1"/>
          <p:nvPr/>
        </p:nvSpPr>
        <p:spPr>
          <a:xfrm>
            <a:off x="457200" y="19050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7F7F7F"/>
                </a:solidFill>
              </a:rPr>
              <a:t>소장권 판매 1건(e1), 1층 정책 적용</a:t>
            </a:r>
            <a:endParaRPr lang="ko-KR" altLang="en-US" sz="1300" dirty="0"/>
          </a:p>
        </p:txBody>
      </p:sp>
      <p:sp>
        <p:nvSpPr>
          <p:cNvPr id="103" name="Shape 103"/>
          <p:cNvSpPr txBox="1"/>
          <p:nvPr/>
        </p:nvSpPr>
        <p:spPr>
          <a:xfrm>
            <a:off x="6477000" y="1625600"/>
            <a:ext cx="525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2층: 권리자 배분 7,000원의 역할별 안분</a:t>
            </a:r>
            <a:endParaRPr lang="ko-KR" altLang="en-US" sz="15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6477000" y="2006600"/>
          <a:ext cx="5257800" cy="3149600"/>
        </p:xfrm>
        <a:graphic>
          <a:graphicData uri="http://schemas.openxmlformats.org/drawingml/2006/table">
            <a:tbl>
              <a:tblPr first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역할 (비율)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권리자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금액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마스터 (45%)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음반제작자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3,150원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실연 (45%)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실연자 1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1,890원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실연자 2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1,260원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작품 (10%)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작곡 A (60%)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420원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작사 B (40%) → 단체 C 수령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280원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합계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7,000원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5" name="Shape 105"/>
          <p:cNvSpPr/>
          <p:nvPr/>
        </p:nvSpPr>
        <p:spPr>
          <a:xfrm>
            <a:off x="6477000" y="5461000"/>
            <a:ext cx="5257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04040"/>
                </a:solidFill>
              </a:rPr>
              <a:t>실연 몫은 고정 40% + 사용량 60%를 섞어 계산합니다. 같은 사람이라도 </a:t>
            </a:r>
            <a:r>
              <a:rPr lang="ko-KR" altLang="en-US" sz="1300" b="1" dirty="0">
                <a:solidFill>
                  <a:srgbClr val="404040"/>
                </a:solidFill>
              </a:rPr>
              <a:t>역할별 라인을 따로 남기고</a:t>
            </a:r>
            <a:r>
              <a:rPr lang="ko-KR" altLang="en-US" sz="1300" b="0" dirty="0">
                <a:solidFill>
                  <a:srgbClr val="404040"/>
                </a:solidFill>
              </a:rPr>
              <a:t>, B의 몫은 위임에 따라 </a:t>
            </a:r>
            <a:r>
              <a:rPr lang="ko-KR" altLang="en-US" sz="1300" b="1" dirty="0">
                <a:solidFill>
                  <a:srgbClr val="404040"/>
                </a:solidFill>
              </a:rPr>
              <a:t>단체 C가 수령</a:t>
            </a:r>
            <a:r>
              <a:rPr lang="ko-KR" altLang="en-US" sz="1300" b="0" dirty="0">
                <a:solidFill>
                  <a:srgbClr val="404040"/>
                </a:solidFill>
              </a:rPr>
              <a:t>합니다.</a:t>
            </a:r>
            <a:endParaRPr lang="ko-KR" altLang="en-US" sz="1300" dirty="0"/>
          </a:p>
        </p:txBody>
      </p:sp>
      <p:sp>
        <p:nvSpPr>
          <p:cNvPr id="106" name="Source"/>
          <p:cNvSpPr txBox="1"/>
          <p:nvPr/>
        </p:nvSpPr>
        <p:spPr>
          <a:xfrm>
            <a:off x="457200" y="6096000"/>
            <a:ext cx="1127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7F7F7F"/>
                </a:solidFill>
              </a:rPr>
              <a:t>bps</a:t>
            </a:r>
            <a:r>
              <a:rPr lang="ko-KR" altLang="en-US" sz="1000" dirty="0">
                <a:solidFill>
                  <a:srgbClr val="7F7F7F"/>
                </a:solidFill>
              </a:rPr>
              <a:t> basis points(베이시스 포인트, 1bps=0.01%)</a:t>
            </a:r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예시 값. 1층: 플랫폼 25%, 운영 5%(500bps), 권리 70%. 끝수는 계층적 최대 잔여 방식으로 배정합니다.  </a:t>
            </a:r>
            <a:endParaRPr lang="ko-KR" altLang="en-US" sz="1000" dirty="0"/>
          </a:p>
        </p:txBody>
      </p:sp>
      <p:graphicFrame>
        <p:nvGraphicFramePr>
          <p:cNvPr id="107" name="Chart"/>
          <p:cNvGraphicFramePr/>
          <p:nvPr/>
        </p:nvGraphicFramePr>
        <p:xfrm>
          <a:off x="457200" y="2209800"/>
          <a:ext cx="5588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5049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예시 ③  권리가 이전되거나 분쟁이 생겨도 과거 정산은 재현되고,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분쟁 그룹의 몫만 보류됩니다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07  권리의 생성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동의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승인 예시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625600"/>
            <a:ext cx="546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EC1F28"/>
                </a:solidFill>
              </a:rPr>
              <a:t>권리 이전: 마스터 L → L2</a:t>
            </a:r>
            <a:endParaRPr lang="ko-KR" altLang="en-US" sz="1700" dirty="0"/>
          </a:p>
        </p:txBody>
      </p:sp>
      <p:sp>
        <p:nvSpPr>
          <p:cNvPr id="102" name="Shape 102"/>
          <p:cNvSpPr/>
          <p:nvPr/>
        </p:nvSpPr>
        <p:spPr>
          <a:xfrm>
            <a:off x="457200" y="19812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595959"/>
                </a:solidFill>
              </a:rPr>
              <a:t>효력 시점 9월 1일 </a:t>
            </a:r>
            <a:r>
              <a:rPr lang="en-US" altLang="ko-KR" sz="1400" b="0" dirty="0">
                <a:solidFill>
                  <a:srgbClr val="595959"/>
                </a:solidFill>
              </a:rPr>
              <a:t>/</a:t>
            </a:r>
            <a:r>
              <a:rPr lang="ko-KR" altLang="en-US" sz="1400" b="0" dirty="0">
                <a:solidFill>
                  <a:srgbClr val="595959"/>
                </a:solidFill>
              </a:rPr>
              <a:t> 기록 시점 9월 20일 </a:t>
            </a:r>
            <a:r>
              <a:rPr lang="en-US" altLang="ko-KR" sz="1400" b="0" dirty="0">
                <a:solidFill>
                  <a:srgbClr val="595959"/>
                </a:solidFill>
              </a:rPr>
              <a:t>/</a:t>
            </a:r>
            <a:r>
              <a:rPr lang="ko-KR" altLang="en-US" sz="1400" b="0" dirty="0">
                <a:solidFill>
                  <a:srgbClr val="595959"/>
                </a:solidFill>
              </a:rPr>
              <a:t> 이용일 9월 10일</a:t>
            </a:r>
            <a:endParaRPr lang="ko-KR" altLang="en-US" sz="1400" dirty="0"/>
          </a:p>
        </p:txBody>
      </p:sp>
      <p:cxnSp>
        <p:nvCxnSpPr>
          <p:cNvPr id="103" name="Line 103"/>
          <p:cNvCxnSpPr/>
          <p:nvPr/>
        </p:nvCxnSpPr>
        <p:spPr>
          <a:xfrm>
            <a:off x="584200" y="2692400"/>
            <a:ext cx="5207000" cy="0"/>
          </a:xfrm>
          <a:prstGeom prst="line">
            <a:avLst/>
          </a:prstGeom>
          <a:ln w="19050">
            <a:solidFill>
              <a:srgbClr val="7F7F7F"/>
            </a:solidFill>
          </a:ln>
        </p:spPr>
      </p:cxnSp>
      <p:sp>
        <p:nvSpPr>
          <p:cNvPr id="104" name="Shape 104"/>
          <p:cNvSpPr/>
          <p:nvPr/>
        </p:nvSpPr>
        <p:spPr>
          <a:xfrm>
            <a:off x="781050" y="2628900"/>
            <a:ext cx="127000" cy="127000"/>
          </a:xfrm>
          <a:prstGeom prst="ellipse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5" name="Shape 105"/>
          <p:cNvSpPr/>
          <p:nvPr/>
        </p:nvSpPr>
        <p:spPr>
          <a:xfrm>
            <a:off x="273050" y="22606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9/1</a:t>
            </a:r>
            <a:endParaRPr lang="ko-KR" altLang="en-US" sz="1400" dirty="0"/>
          </a:p>
        </p:txBody>
      </p:sp>
      <p:sp>
        <p:nvSpPr>
          <p:cNvPr id="106" name="Shape 106"/>
          <p:cNvSpPr/>
          <p:nvPr/>
        </p:nvSpPr>
        <p:spPr>
          <a:xfrm>
            <a:off x="273050" y="28194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효력 시작</a:t>
            </a:r>
            <a:endParaRPr lang="ko-KR" altLang="en-US" sz="1300" dirty="0"/>
          </a:p>
        </p:txBody>
      </p:sp>
      <p:sp>
        <p:nvSpPr>
          <p:cNvPr id="107" name="Shape 107"/>
          <p:cNvSpPr/>
          <p:nvPr/>
        </p:nvSpPr>
        <p:spPr>
          <a:xfrm>
            <a:off x="2186940" y="2628900"/>
            <a:ext cx="127000" cy="127000"/>
          </a:xfrm>
          <a:prstGeom prst="ellipse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8" name="Shape 108"/>
          <p:cNvSpPr/>
          <p:nvPr/>
        </p:nvSpPr>
        <p:spPr>
          <a:xfrm>
            <a:off x="1678940" y="22606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9/10</a:t>
            </a:r>
            <a:endParaRPr lang="ko-KR" altLang="en-US" sz="1400" dirty="0"/>
          </a:p>
        </p:txBody>
      </p:sp>
      <p:sp>
        <p:nvSpPr>
          <p:cNvPr id="109" name="Shape 109"/>
          <p:cNvSpPr/>
          <p:nvPr/>
        </p:nvSpPr>
        <p:spPr>
          <a:xfrm>
            <a:off x="1678940" y="28194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이용</a:t>
            </a:r>
            <a:endParaRPr lang="ko-KR" altLang="en-US" sz="1300" dirty="0"/>
          </a:p>
        </p:txBody>
      </p:sp>
      <p:sp>
        <p:nvSpPr>
          <p:cNvPr id="110" name="Shape 110"/>
          <p:cNvSpPr/>
          <p:nvPr/>
        </p:nvSpPr>
        <p:spPr>
          <a:xfrm>
            <a:off x="3749040" y="2628900"/>
            <a:ext cx="127000" cy="127000"/>
          </a:xfrm>
          <a:prstGeom prst="ellipse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11" name="Shape 111"/>
          <p:cNvSpPr/>
          <p:nvPr/>
        </p:nvSpPr>
        <p:spPr>
          <a:xfrm>
            <a:off x="3241040" y="22606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9/20</a:t>
            </a:r>
            <a:endParaRPr lang="ko-KR" altLang="en-US" sz="1400" dirty="0"/>
          </a:p>
        </p:txBody>
      </p:sp>
      <p:sp>
        <p:nvSpPr>
          <p:cNvPr id="112" name="Shape 112"/>
          <p:cNvSpPr/>
          <p:nvPr/>
        </p:nvSpPr>
        <p:spPr>
          <a:xfrm>
            <a:off x="3241040" y="28194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이전 기록</a:t>
            </a:r>
            <a:endParaRPr lang="ko-KR" altLang="en-US" sz="1300" dirty="0"/>
          </a:p>
        </p:txBody>
      </p:sp>
      <p:sp>
        <p:nvSpPr>
          <p:cNvPr id="113" name="Shape 113"/>
          <p:cNvSpPr/>
          <p:nvPr/>
        </p:nvSpPr>
        <p:spPr>
          <a:xfrm>
            <a:off x="5311140" y="2628900"/>
            <a:ext cx="127000" cy="127000"/>
          </a:xfrm>
          <a:prstGeom prst="ellipse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14" name="Shape 114"/>
          <p:cNvSpPr/>
          <p:nvPr/>
        </p:nvSpPr>
        <p:spPr>
          <a:xfrm>
            <a:off x="4803140" y="22606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10/1</a:t>
            </a:r>
            <a:endParaRPr lang="ko-KR" altLang="en-US" sz="1400" dirty="0"/>
          </a:p>
        </p:txBody>
      </p:sp>
      <p:sp>
        <p:nvSpPr>
          <p:cNvPr id="115" name="Shape 115"/>
          <p:cNvSpPr/>
          <p:nvPr/>
        </p:nvSpPr>
        <p:spPr>
          <a:xfrm>
            <a:off x="4803140" y="28194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595959"/>
                </a:solidFill>
              </a:rPr>
              <a:t>정산</a:t>
            </a:r>
            <a:endParaRPr lang="ko-KR" altLang="en-US" sz="1300" dirty="0"/>
          </a:p>
        </p:txBody>
      </p:sp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457200" y="3327400"/>
          <a:ext cx="5461000" cy="1397000"/>
        </p:xfrm>
        <a:graphic>
          <a:graphicData uri="http://schemas.openxmlformats.org/drawingml/2006/table">
            <a:tbl>
              <a:tblPr firstRow="1"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141414"/>
                          </a:solidFill>
                        </a:rPr>
                        <a:t>같은 9월 10일의 권리 상태를</a:t>
                      </a:r>
                      <a:endParaRPr lang="ko-KR" altLang="en-US" sz="13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141414"/>
                          </a:solidFill>
                        </a:rPr>
                        <a:t>기준 기록 시점</a:t>
                      </a:r>
                      <a:endParaRPr lang="ko-KR" altLang="en-US" sz="13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141414"/>
                          </a:solidFill>
                        </a:rPr>
                        <a:t>마스터 몫</a:t>
                      </a:r>
                      <a:endParaRPr lang="ko-KR" altLang="en-US" sz="13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처음 정산 그대로 재현 (감사)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9월 10일까지 기록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L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최신 기록으로 다시 계산 (정정)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10월 1일까지 기록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L2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7" name="Shape 117"/>
          <p:cNvSpPr/>
          <p:nvPr/>
        </p:nvSpPr>
        <p:spPr>
          <a:xfrm>
            <a:off x="457200" y="5003800"/>
            <a:ext cx="5461000" cy="88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262626"/>
                </a:solidFill>
              </a:rPr>
              <a:t>효력 시점(as_of)과 기록 시점(known_at)을 함께 지정하므로 </a:t>
            </a:r>
            <a:r>
              <a:rPr lang="ko-KR" altLang="en-US" sz="1400" b="1" dirty="0">
                <a:solidFill>
                  <a:srgbClr val="262626"/>
                </a:solidFill>
              </a:rPr>
              <a:t>두 답을 모두 재현</a:t>
            </a:r>
            <a:r>
              <a:rPr lang="ko-KR" altLang="en-US" sz="1400" b="0" dirty="0">
                <a:solidFill>
                  <a:srgbClr val="262626"/>
                </a:solidFill>
              </a:rPr>
              <a:t>할 수 있고, 정정은 새 실행으로만 반영됩니다.</a:t>
            </a:r>
            <a:endParaRPr lang="ko-KR" altLang="en-US" sz="1400" dirty="0"/>
          </a:p>
        </p:txBody>
      </p:sp>
      <p:sp>
        <p:nvSpPr>
          <p:cNvPr id="118" name="Shape 118"/>
          <p:cNvSpPr/>
          <p:nvPr/>
        </p:nvSpPr>
        <p:spPr>
          <a:xfrm>
            <a:off x="6273800" y="1625600"/>
            <a:ext cx="546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EC1F28"/>
                </a:solidFill>
              </a:rPr>
              <a:t>지분 분쟁: 작곡 A의 지분에 이의 제기</a:t>
            </a:r>
            <a:endParaRPr lang="ko-KR" altLang="en-US" sz="1700" dirty="0"/>
          </a:p>
        </p:txBody>
      </p:sp>
      <p:sp>
        <p:nvSpPr>
          <p:cNvPr id="119" name="Shape 119"/>
          <p:cNvSpPr/>
          <p:nvPr/>
        </p:nvSpPr>
        <p:spPr>
          <a:xfrm>
            <a:off x="6273800" y="19812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595959"/>
                </a:solidFill>
              </a:rPr>
              <a:t>권리자 배분 7,000원 기준</a:t>
            </a:r>
            <a:endParaRPr lang="ko-KR" altLang="en-US" sz="1400" dirty="0"/>
          </a:p>
        </p:txBody>
      </p:sp>
      <p:sp>
        <p:nvSpPr>
          <p:cNvPr id="120" name="Shape 120"/>
          <p:cNvSpPr/>
          <p:nvPr/>
        </p:nvSpPr>
        <p:spPr>
          <a:xfrm>
            <a:off x="6273800" y="2438400"/>
            <a:ext cx="147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마스터</a:t>
            </a:r>
            <a:endParaRPr lang="ko-KR" altLang="en-US" sz="1400" dirty="0"/>
          </a:p>
        </p:txBody>
      </p:sp>
      <p:sp>
        <p:nvSpPr>
          <p:cNvPr id="121" name="Shape 121"/>
          <p:cNvSpPr/>
          <p:nvPr/>
        </p:nvSpPr>
        <p:spPr>
          <a:xfrm>
            <a:off x="7797800" y="2514600"/>
            <a:ext cx="2794000" cy="35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22" name="Shape 122"/>
          <p:cNvSpPr/>
          <p:nvPr/>
        </p:nvSpPr>
        <p:spPr>
          <a:xfrm>
            <a:off x="10693400" y="24384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3,150원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595959"/>
                </a:solidFill>
              </a:rPr>
              <a:t>정상 지급</a:t>
            </a:r>
            <a:endParaRPr lang="ko-KR" altLang="en-US" sz="1200" dirty="0"/>
          </a:p>
        </p:txBody>
      </p:sp>
      <p:sp>
        <p:nvSpPr>
          <p:cNvPr id="123" name="Shape 123"/>
          <p:cNvSpPr/>
          <p:nvPr/>
        </p:nvSpPr>
        <p:spPr>
          <a:xfrm>
            <a:off x="6273800" y="3175000"/>
            <a:ext cx="147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실연</a:t>
            </a:r>
            <a:endParaRPr lang="ko-KR" altLang="en-US" sz="1400" dirty="0"/>
          </a:p>
        </p:txBody>
      </p:sp>
      <p:sp>
        <p:nvSpPr>
          <p:cNvPr id="124" name="Shape 124"/>
          <p:cNvSpPr/>
          <p:nvPr/>
        </p:nvSpPr>
        <p:spPr>
          <a:xfrm>
            <a:off x="7797800" y="3251200"/>
            <a:ext cx="2794000" cy="35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25" name="Shape 125"/>
          <p:cNvSpPr/>
          <p:nvPr/>
        </p:nvSpPr>
        <p:spPr>
          <a:xfrm>
            <a:off x="10693400" y="31750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3,150원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595959"/>
                </a:solidFill>
              </a:rPr>
              <a:t>정상 지급</a:t>
            </a:r>
            <a:endParaRPr lang="ko-KR" altLang="en-US" sz="1200" dirty="0"/>
          </a:p>
        </p:txBody>
      </p:sp>
      <p:sp>
        <p:nvSpPr>
          <p:cNvPr id="126" name="Shape 126"/>
          <p:cNvSpPr/>
          <p:nvPr/>
        </p:nvSpPr>
        <p:spPr>
          <a:xfrm>
            <a:off x="6273800" y="3911600"/>
            <a:ext cx="147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41414"/>
                </a:solidFill>
              </a:rPr>
              <a:t>작품 (</a:t>
            </a:r>
            <a:r>
              <a:rPr lang="ko-KR" altLang="en-US" sz="1400" b="1" dirty="0" err="1">
                <a:solidFill>
                  <a:srgbClr val="141414"/>
                </a:solidFill>
              </a:rPr>
              <a:t>A</a:t>
            </a:r>
            <a:r>
              <a:rPr lang="en-US" altLang="ko-KR" sz="1400" b="1" dirty="0">
                <a:solidFill>
                  <a:srgbClr val="141414"/>
                </a:solidFill>
              </a:rPr>
              <a:t>/</a:t>
            </a:r>
            <a:r>
              <a:rPr lang="ko-KR" altLang="en-US" sz="1400" b="1" dirty="0" err="1">
                <a:solidFill>
                  <a:srgbClr val="141414"/>
                </a:solidFill>
              </a:rPr>
              <a:t>B</a:t>
            </a:r>
            <a:r>
              <a:rPr lang="ko-KR" altLang="en-US" sz="1400" b="1" dirty="0">
                <a:solidFill>
                  <a:srgbClr val="141414"/>
                </a:solidFill>
              </a:rPr>
              <a:t> 그룹)</a:t>
            </a:r>
            <a:endParaRPr lang="ko-KR" altLang="en-US" sz="1400" dirty="0"/>
          </a:p>
        </p:txBody>
      </p:sp>
      <p:sp>
        <p:nvSpPr>
          <p:cNvPr id="127" name="Shape 127"/>
          <p:cNvSpPr/>
          <p:nvPr/>
        </p:nvSpPr>
        <p:spPr>
          <a:xfrm>
            <a:off x="7797800" y="3987800"/>
            <a:ext cx="620889" cy="3556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28" name="Shape 128"/>
          <p:cNvSpPr/>
          <p:nvPr/>
        </p:nvSpPr>
        <p:spPr>
          <a:xfrm>
            <a:off x="8520289" y="39116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C4161E"/>
                </a:solidFill>
              </a:rPr>
              <a:t>700원</a:t>
            </a:r>
            <a:endParaRPr lang="ko-KR" altLang="en-US" sz="14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595959"/>
                </a:solidFill>
              </a:rPr>
              <a:t>보류 계정</a:t>
            </a:r>
            <a:endParaRPr lang="ko-KR" altLang="en-US" sz="1200" dirty="0"/>
          </a:p>
        </p:txBody>
      </p:sp>
      <p:sp>
        <p:nvSpPr>
          <p:cNvPr id="129" name="Shape 129"/>
          <p:cNvSpPr/>
          <p:nvPr/>
        </p:nvSpPr>
        <p:spPr>
          <a:xfrm>
            <a:off x="6273800" y="5003800"/>
            <a:ext cx="546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분쟁 그룹 전체(A와 단체 C가 받는 B 몫)를 </a:t>
            </a:r>
            <a:r>
              <a:rPr lang="ko-KR" altLang="en-US" sz="1400" b="1" dirty="0">
                <a:solidFill>
                  <a:srgbClr val="262626"/>
                </a:solidFill>
              </a:rPr>
              <a:t>함께 보류</a:t>
            </a:r>
            <a:endParaRPr lang="ko-KR" altLang="en-US" sz="1400" dirty="0"/>
          </a:p>
          <a:p>
            <a:pPr marL="171450" indent="-171450" algn="l" eaLnBrk="0" latinLnBrk="0">
              <a:spcBef>
                <a:spcPts val="4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보류분을 다른 권리자에게 </a:t>
            </a:r>
            <a:r>
              <a:rPr lang="ko-KR" altLang="en-US" sz="1400" b="1" dirty="0">
                <a:solidFill>
                  <a:srgbClr val="262626"/>
                </a:solidFill>
              </a:rPr>
              <a:t>재분배하지 않음</a:t>
            </a:r>
            <a:endParaRPr lang="ko-KR" altLang="en-US" sz="1400" dirty="0"/>
          </a:p>
          <a:p>
            <a:pPr marL="171450" indent="-171450" algn="l" eaLnBrk="0" latinLnBrk="0">
              <a:spcBef>
                <a:spcPts val="4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해결되면 원래 비율대로 지급, 합계는 그대로 보존</a:t>
            </a:r>
            <a:endParaRPr lang="ko-KR" altLang="en-US" sz="1400" dirty="0"/>
          </a:p>
        </p:txBody>
      </p:sp>
      <p:sp>
        <p:nvSpPr>
          <p:cNvPr id="130" name="Shape 130"/>
          <p:cNvSpPr/>
          <p:nvPr/>
        </p:nvSpPr>
        <p:spPr>
          <a:xfrm>
            <a:off x="6096000" y="1625600"/>
            <a:ext cx="12700" cy="4445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31" name="Source"/>
          <p:cNvSpPr txBox="1"/>
          <p:nvPr/>
        </p:nvSpPr>
        <p:spPr>
          <a:xfrm>
            <a:off x="457200" y="62738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가상 사례 W001 “별빛”의 예시 값. 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53031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예시 ④  창작 모드마다 새로 생기는 권리와 필요한 동의가 달라,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프로파일이 모드별 승인 조건을 등록합니다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07  권리의 생성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동의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승인 예시</a:t>
            </a:r>
            <a:endParaRPr lang="ko-KR" altLang="en-US" sz="1400" dirty="0"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457200" y="1625600"/>
          <a:ext cx="11277600" cy="43688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창작 모드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새로 생기는 기여</a:t>
                      </a:r>
                      <a:r>
                        <a:rPr lang="en-US" altLang="ko-KR" sz="14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권리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필요한 동의</a:t>
                      </a:r>
                      <a:r>
                        <a:rPr lang="en-US" altLang="ko-KR" sz="14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허락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승인 범위와 조건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4141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보컬 트랙 재배치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선택과 배치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원 녹음</a:t>
                      </a:r>
                      <a:r>
                        <a:rPr lang="en-US" altLang="ko-KR" sz="14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원 실연 이용 허락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이용자 비율은 실연 풀 안에서만 적용</a:t>
                      </a:r>
                      <a:endParaRPr lang="ko-KR" altLang="en-US" sz="1400" dirty="0"/>
                    </a:p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원저작자 몫은 바뀌지 않음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보컬 추가 녹음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새 실연, 새 녹음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원곡 반주 허락 + 신규 실연 계약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새 마스터는 원 마스터를 승계하지 않음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AI 믹스</a:t>
                      </a:r>
                      <a:r>
                        <a:rPr lang="en-US" altLang="ko-KR" sz="14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마스터링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믹스 파라미터, 모델 실행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AI 생성 행위 허락 필수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모델 대가는 계약 비율로만, 실연료와 구분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AI 보이스 실연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합성 실연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원천 음성 제공자와</a:t>
                      </a:r>
                      <a:endParaRPr lang="ko-KR" altLang="en-US" sz="1400" dirty="0"/>
                    </a:p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모델 운영자 각각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학습</a:t>
                      </a:r>
                      <a:r>
                        <a:rPr lang="en-US" altLang="ko-KR" sz="1400" b="0" dirty="0">
                          <a:solidFill>
                            <a:srgbClr val="262626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생성 허락 분리, 철회 시 생성 차단</a:t>
                      </a:r>
                      <a:endParaRPr lang="ko-KR" altLang="en-US" sz="1400" dirty="0"/>
                    </a:p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생성물 표시 의무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커버</a:t>
                      </a:r>
                      <a:r>
                        <a:rPr lang="en-US" altLang="ko-KR" sz="1400" b="1" dirty="0">
                          <a:solidFill>
                            <a:srgbClr val="141414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리믹스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새 실연, 편곡, 믹스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작품 허락(편곡 포함 여부 확인)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원 녹음 미사용 시 마스터 몫 없음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141414"/>
                          </a:solidFill>
                        </a:rPr>
                        <a:t>샘플링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새 작품, 새 녹음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원 녹음 + 원 작품 모두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62626"/>
                          </a:solidFill>
                        </a:rPr>
                        <a:t>곡별 가중치는 승인 필요</a:t>
                      </a:r>
                      <a:endParaRPr lang="ko-KR" altLang="en-US" sz="1400" dirty="0"/>
                    </a:p>
                  </a:txBody>
                  <a:tcPr marL="76200" marR="762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2" name="Source"/>
          <p:cNvSpPr txBox="1"/>
          <p:nvPr/>
        </p:nvSpPr>
        <p:spPr>
          <a:xfrm>
            <a:off x="457200" y="62738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“승인된 결과물”만 독립 자산으로 기록하며, 승인되지 않은 중간 작업물은 기록 대상이 아닙니다. 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69578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예시 ⑤  보컬조합 음원 한 곡에 얽힌 5개 소스와 7가지 동의도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MDRL의 4개 층에서 한 번에 판정</a:t>
            </a:r>
            <a:r>
              <a:rPr lang="en-US" altLang="ko-KR" sz="2600" b="1" dirty="0">
                <a:solidFill>
                  <a:srgbClr val="141414"/>
                </a:solidFill>
              </a:rPr>
              <a:t>/</a:t>
            </a:r>
            <a:r>
              <a:rPr lang="ko-KR" altLang="en-US" sz="2600" b="1" dirty="0">
                <a:solidFill>
                  <a:srgbClr val="141414"/>
                </a:solidFill>
              </a:rPr>
              <a:t>안분 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07  권리의 생성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동의</a:t>
            </a:r>
            <a:r>
              <a:rPr lang="en-US" altLang="ko-KR" sz="1400" b="1" dirty="0">
                <a:solidFill>
                  <a:srgbClr val="EC1F28"/>
                </a:solidFill>
              </a:rPr>
              <a:t>/</a:t>
            </a:r>
            <a:r>
              <a:rPr lang="ko-KR" altLang="en-US" sz="1400" b="1" dirty="0">
                <a:solidFill>
                  <a:srgbClr val="EC1F28"/>
                </a:solidFill>
              </a:rPr>
              <a:t>승인 예시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6002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팬이 만든 조합 음원 1건의 구성 (보컬조합 서비스)</a:t>
            </a:r>
            <a:endParaRPr lang="ko-KR" altLang="en-US" sz="1500" dirty="0"/>
          </a:p>
        </p:txBody>
      </p:sp>
      <p:sp>
        <p:nvSpPr>
          <p:cNvPr id="102" name="Shape 102"/>
          <p:cNvSpPr/>
          <p:nvPr/>
        </p:nvSpPr>
        <p:spPr>
          <a:xfrm>
            <a:off x="457200" y="1930400"/>
            <a:ext cx="2032000" cy="6858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MR 스템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595959"/>
                </a:solidFill>
              </a:rPr>
              <a:t>원곡 마스터 </a:t>
            </a:r>
            <a:r>
              <a:rPr lang="en-US" altLang="ko-KR" sz="1200" b="0" dirty="0">
                <a:solidFill>
                  <a:srgbClr val="595959"/>
                </a:solidFill>
              </a:rPr>
              <a:t>/</a:t>
            </a:r>
            <a:r>
              <a:rPr lang="ko-KR" altLang="en-US" sz="1200" b="0" dirty="0">
                <a:solidFill>
                  <a:srgbClr val="595959"/>
                </a:solidFill>
              </a:rPr>
              <a:t> 동의 C2</a:t>
            </a:r>
            <a:endParaRPr lang="ko-KR" altLang="en-US" sz="1200" dirty="0"/>
          </a:p>
        </p:txBody>
      </p:sp>
      <p:sp>
        <p:nvSpPr>
          <p:cNvPr id="103" name="Shape 103"/>
          <p:cNvSpPr/>
          <p:nvPr/>
        </p:nvSpPr>
        <p:spPr>
          <a:xfrm>
            <a:off x="2768600" y="1930400"/>
            <a:ext cx="2032000" cy="6858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메인 보컬 A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595959"/>
                </a:solidFill>
              </a:rPr>
              <a:t>원곡 스템 </a:t>
            </a:r>
            <a:r>
              <a:rPr lang="en-US" altLang="ko-KR" sz="1200" b="0" dirty="0">
                <a:solidFill>
                  <a:srgbClr val="595959"/>
                </a:solidFill>
              </a:rPr>
              <a:t>/</a:t>
            </a:r>
            <a:r>
              <a:rPr lang="ko-KR" altLang="en-US" sz="1200" b="0" dirty="0">
                <a:solidFill>
                  <a:srgbClr val="595959"/>
                </a:solidFill>
              </a:rPr>
              <a:t> 동의 C2</a:t>
            </a:r>
            <a:r>
              <a:rPr lang="en-US" altLang="ko-KR" sz="1200" b="0" dirty="0">
                <a:solidFill>
                  <a:srgbClr val="595959"/>
                </a:solidFill>
              </a:rPr>
              <a:t>/</a:t>
            </a:r>
            <a:r>
              <a:rPr lang="ko-KR" altLang="en-US" sz="1200" b="0" dirty="0">
                <a:solidFill>
                  <a:srgbClr val="595959"/>
                </a:solidFill>
              </a:rPr>
              <a:t>C3</a:t>
            </a:r>
            <a:endParaRPr lang="ko-KR" altLang="en-US" sz="1200" dirty="0"/>
          </a:p>
        </p:txBody>
      </p:sp>
      <p:sp>
        <p:nvSpPr>
          <p:cNvPr id="104" name="Shape 104"/>
          <p:cNvSpPr/>
          <p:nvPr/>
        </p:nvSpPr>
        <p:spPr>
          <a:xfrm>
            <a:off x="5080000" y="1930400"/>
            <a:ext cx="2032000" cy="6858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하모니 B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595959"/>
                </a:solidFill>
              </a:rPr>
              <a:t>멤버 재 녹음 </a:t>
            </a:r>
            <a:r>
              <a:rPr lang="en-US" altLang="ko-KR" sz="1200" b="0" dirty="0">
                <a:solidFill>
                  <a:srgbClr val="595959"/>
                </a:solidFill>
              </a:rPr>
              <a:t>/</a:t>
            </a:r>
            <a:r>
              <a:rPr lang="ko-KR" altLang="en-US" sz="1200" b="0" dirty="0">
                <a:solidFill>
                  <a:srgbClr val="595959"/>
                </a:solidFill>
              </a:rPr>
              <a:t> 동의 C3</a:t>
            </a:r>
            <a:endParaRPr lang="ko-KR" altLang="en-US" sz="1200" dirty="0"/>
          </a:p>
        </p:txBody>
      </p:sp>
      <p:sp>
        <p:nvSpPr>
          <p:cNvPr id="105" name="Shape 105"/>
          <p:cNvSpPr/>
          <p:nvPr/>
        </p:nvSpPr>
        <p:spPr>
          <a:xfrm>
            <a:off x="7391400" y="1930400"/>
            <a:ext cx="2032000" cy="6858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코러스 C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595959"/>
                </a:solidFill>
              </a:rPr>
              <a:t>협업 녹음 </a:t>
            </a:r>
            <a:r>
              <a:rPr lang="en-US" altLang="ko-KR" sz="1200" b="0" dirty="0">
                <a:solidFill>
                  <a:srgbClr val="595959"/>
                </a:solidFill>
              </a:rPr>
              <a:t>/</a:t>
            </a:r>
            <a:r>
              <a:rPr lang="ko-KR" altLang="en-US" sz="1200" b="0" dirty="0">
                <a:solidFill>
                  <a:srgbClr val="595959"/>
                </a:solidFill>
              </a:rPr>
              <a:t> 동의 C4</a:t>
            </a:r>
            <a:endParaRPr lang="ko-KR" altLang="en-US" sz="1200" dirty="0"/>
          </a:p>
        </p:txBody>
      </p:sp>
      <p:sp>
        <p:nvSpPr>
          <p:cNvPr id="106" name="Shape 106"/>
          <p:cNvSpPr/>
          <p:nvPr/>
        </p:nvSpPr>
        <p:spPr>
          <a:xfrm>
            <a:off x="9702800" y="1930400"/>
            <a:ext cx="2032000" cy="6858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41414"/>
                </a:solidFill>
              </a:rPr>
              <a:t>AI 하모니</a:t>
            </a:r>
            <a:endParaRPr lang="ko-KR" altLang="en-US" sz="15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595959"/>
                </a:solidFill>
              </a:rPr>
              <a:t>원천 음성 </a:t>
            </a:r>
            <a:r>
              <a:rPr lang="ko-KR" altLang="en-US" sz="1200" b="0" dirty="0" err="1">
                <a:solidFill>
                  <a:srgbClr val="595959"/>
                </a:solidFill>
              </a:rPr>
              <a:t>D</a:t>
            </a:r>
            <a:r>
              <a:rPr lang="ko-KR" altLang="en-US" sz="1200" b="0" dirty="0">
                <a:solidFill>
                  <a:srgbClr val="595959"/>
                </a:solidFill>
              </a:rPr>
              <a:t> </a:t>
            </a:r>
            <a:r>
              <a:rPr lang="en-US" altLang="ko-KR" sz="1200" b="0" dirty="0">
                <a:solidFill>
                  <a:srgbClr val="595959"/>
                </a:solidFill>
              </a:rPr>
              <a:t>/</a:t>
            </a:r>
            <a:r>
              <a:rPr lang="ko-KR" altLang="en-US" sz="1200" b="0" dirty="0">
                <a:solidFill>
                  <a:srgbClr val="595959"/>
                </a:solidFill>
              </a:rPr>
              <a:t> 동의 C6</a:t>
            </a:r>
            <a:endParaRPr lang="ko-KR" altLang="en-US" sz="1200" dirty="0"/>
          </a:p>
        </p:txBody>
      </p:sp>
      <p:sp>
        <p:nvSpPr>
          <p:cNvPr id="107" name="Shape 107"/>
          <p:cNvSpPr/>
          <p:nvPr/>
        </p:nvSpPr>
        <p:spPr>
          <a:xfrm>
            <a:off x="457200" y="27432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공통 동의: 작품 조합형 이용 허락(C1) 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>
                <a:solidFill>
                  <a:srgbClr val="404040"/>
                </a:solidFill>
              </a:rPr>
              <a:t> 기획사 멤버 조합 승인(C5) 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>
                <a:solidFill>
                  <a:srgbClr val="404040"/>
                </a:solidFill>
              </a:rPr>
              <a:t> 팬 약관과 소장권(C7)</a:t>
            </a:r>
            <a:endParaRPr lang="ko-KR" altLang="en-US" sz="1400" dirty="0"/>
          </a:p>
        </p:txBody>
      </p:sp>
      <p:cxnSp>
        <p:nvCxnSpPr>
          <p:cNvPr id="110" name="Line 110"/>
          <p:cNvCxnSpPr/>
          <p:nvPr/>
        </p:nvCxnSpPr>
        <p:spPr>
          <a:xfrm>
            <a:off x="6096000" y="2997200"/>
            <a:ext cx="0" cy="330200"/>
          </a:xfrm>
          <a:prstGeom prst="line">
            <a:avLst/>
          </a:prstGeom>
          <a:ln w="38100">
            <a:solidFill>
              <a:srgbClr val="EC1F28"/>
            </a:solidFill>
            <a:tailEnd type="triangle" w="med" len="med"/>
          </a:ln>
        </p:spPr>
      </p:cxnSp>
      <p:sp>
        <p:nvSpPr>
          <p:cNvPr id="111" name="Shape 111"/>
          <p:cNvSpPr/>
          <p:nvPr/>
        </p:nvSpPr>
        <p:spPr>
          <a:xfrm>
            <a:off x="457200" y="3403600"/>
            <a:ext cx="2609850" cy="711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권리 사실 층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D9D9D9"/>
                </a:solidFill>
              </a:rPr>
              <a:t>누가, 어떤 역할로 참여했나</a:t>
            </a:r>
            <a:endParaRPr lang="ko-KR" altLang="en-US" sz="1200" dirty="0"/>
          </a:p>
        </p:txBody>
      </p:sp>
      <p:sp>
        <p:nvSpPr>
          <p:cNvPr id="112" name="Shape 112"/>
          <p:cNvSpPr/>
          <p:nvPr/>
        </p:nvSpPr>
        <p:spPr>
          <a:xfrm>
            <a:off x="457200" y="4114800"/>
            <a:ext cx="2609850" cy="193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스템별 실연자와 역할(주</a:t>
            </a:r>
            <a:r>
              <a:rPr lang="en-US" altLang="ko-KR" sz="1400" b="0" dirty="0">
                <a:solidFill>
                  <a:srgbClr val="262626"/>
                </a:solidFill>
              </a:rPr>
              <a:t>/</a:t>
            </a:r>
            <a:r>
              <a:rPr lang="ko-KR" altLang="en-US" sz="1400" b="0" dirty="0">
                <a:solidFill>
                  <a:srgbClr val="262626"/>
                </a:solidFill>
              </a:rPr>
              <a:t>부 실연, AI 원천)</a:t>
            </a:r>
            <a:endParaRPr lang="ko-KR" altLang="en-US" sz="1400" dirty="0"/>
          </a:p>
          <a:p>
            <a:pPr marL="171450" indent="-171450" algn="l" eaLnBrk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발행 시 사용 시간</a:t>
            </a:r>
            <a:r>
              <a:rPr lang="en-US" altLang="ko-KR" sz="1400" b="0" dirty="0">
                <a:solidFill>
                  <a:srgbClr val="262626"/>
                </a:solidFill>
              </a:rPr>
              <a:t>/</a:t>
            </a:r>
            <a:r>
              <a:rPr lang="ko-KR" altLang="en-US" sz="1400" b="0" dirty="0">
                <a:solidFill>
                  <a:srgbClr val="262626"/>
                </a:solidFill>
              </a:rPr>
              <a:t>팬 비율을 스냅샷으로 고정</a:t>
            </a:r>
            <a:endParaRPr lang="ko-KR" altLang="en-US" sz="1400" dirty="0"/>
          </a:p>
          <a:p>
            <a:pPr marL="171450" indent="-171450" algn="l" eaLnBrk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신탁곡 작가 몫은 관리 위임으로 단체 경유</a:t>
            </a:r>
            <a:endParaRPr lang="ko-KR" altLang="en-US" sz="1400" dirty="0"/>
          </a:p>
        </p:txBody>
      </p:sp>
      <p:sp>
        <p:nvSpPr>
          <p:cNvPr id="113" name="Shape 113"/>
          <p:cNvSpPr/>
          <p:nvPr/>
        </p:nvSpPr>
        <p:spPr>
          <a:xfrm>
            <a:off x="3346450" y="3403600"/>
            <a:ext cx="2609850" cy="7112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이용허락 판정 층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FBD3D5"/>
                </a:solidFill>
              </a:rPr>
              <a:t>이 이용이 허락되었나</a:t>
            </a:r>
            <a:endParaRPr lang="ko-KR" altLang="en-US" sz="1200" dirty="0"/>
          </a:p>
        </p:txBody>
      </p:sp>
      <p:sp>
        <p:nvSpPr>
          <p:cNvPr id="114" name="Shape 114"/>
          <p:cNvSpPr/>
          <p:nvPr/>
        </p:nvSpPr>
        <p:spPr>
          <a:xfrm>
            <a:off x="3346450" y="4114800"/>
            <a:ext cx="2609850" cy="193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5개 소스 허락의 교집합 → 플랫폼 내 소장</a:t>
            </a:r>
            <a:r>
              <a:rPr lang="en-US" altLang="ko-KR" sz="1400" b="0" dirty="0">
                <a:solidFill>
                  <a:srgbClr val="262626"/>
                </a:solidFill>
              </a:rPr>
              <a:t>/</a:t>
            </a:r>
            <a:r>
              <a:rPr lang="ko-KR" altLang="en-US" sz="1400" b="0" dirty="0">
                <a:solidFill>
                  <a:srgbClr val="262626"/>
                </a:solidFill>
              </a:rPr>
              <a:t>재생만</a:t>
            </a:r>
            <a:endParaRPr lang="ko-KR" altLang="en-US" sz="1400" dirty="0"/>
          </a:p>
          <a:p>
            <a:pPr marL="171450" indent="-171450" algn="l" eaLnBrk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AI 하모니는 학습</a:t>
            </a:r>
            <a:r>
              <a:rPr lang="en-US" altLang="ko-KR" sz="1400" b="0" dirty="0">
                <a:solidFill>
                  <a:srgbClr val="262626"/>
                </a:solidFill>
              </a:rPr>
              <a:t>/</a:t>
            </a:r>
            <a:r>
              <a:rPr lang="ko-KR" altLang="en-US" sz="1400" b="0" dirty="0">
                <a:solidFill>
                  <a:srgbClr val="262626"/>
                </a:solidFill>
              </a:rPr>
              <a:t>생성 허락을 각각 확인</a:t>
            </a:r>
            <a:endParaRPr lang="ko-KR" altLang="en-US" sz="1400" dirty="0"/>
          </a:p>
          <a:p>
            <a:pPr marL="171450" indent="-171450" algn="l" eaLnBrk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멤버 조합 미승인이나 확인 불가는 거부</a:t>
            </a:r>
            <a:endParaRPr lang="ko-KR" altLang="en-US" sz="1400" dirty="0"/>
          </a:p>
        </p:txBody>
      </p:sp>
      <p:sp>
        <p:nvSpPr>
          <p:cNvPr id="115" name="Shape 115"/>
          <p:cNvSpPr/>
          <p:nvPr/>
        </p:nvSpPr>
        <p:spPr>
          <a:xfrm>
            <a:off x="6235700" y="3403600"/>
            <a:ext cx="2609850" cy="711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안분 층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D9D9D9"/>
                </a:solidFill>
              </a:rPr>
              <a:t>누구에게 얼마를 나누나</a:t>
            </a:r>
            <a:endParaRPr lang="ko-KR" altLang="en-US" sz="1200" dirty="0"/>
          </a:p>
        </p:txBody>
      </p:sp>
      <p:sp>
        <p:nvSpPr>
          <p:cNvPr id="116" name="Shape 116"/>
          <p:cNvSpPr/>
          <p:nvPr/>
        </p:nvSpPr>
        <p:spPr>
          <a:xfrm>
            <a:off x="6235700" y="4114800"/>
            <a:ext cx="2609850" cy="193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1층: 권리자, 플랫폼, 팬 포인트</a:t>
            </a:r>
            <a:endParaRPr lang="ko-KR" altLang="en-US" sz="1400" dirty="0"/>
          </a:p>
          <a:p>
            <a:pPr marL="171450" indent="-171450" algn="l" eaLnBrk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2층: 마스터, 저작권, 실연, 기획사, AI</a:t>
            </a:r>
            <a:endParaRPr lang="ko-KR" altLang="en-US" sz="1400" dirty="0"/>
          </a:p>
          <a:p>
            <a:pPr marL="171450" indent="-171450" algn="l" eaLnBrk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실연 풀: 사용량 가중 + 최소 보장</a:t>
            </a:r>
            <a:endParaRPr lang="ko-KR" altLang="en-US" sz="1400" dirty="0"/>
          </a:p>
        </p:txBody>
      </p:sp>
      <p:sp>
        <p:nvSpPr>
          <p:cNvPr id="117" name="Shape 117"/>
          <p:cNvSpPr/>
          <p:nvPr/>
        </p:nvSpPr>
        <p:spPr>
          <a:xfrm>
            <a:off x="9124950" y="3403600"/>
            <a:ext cx="2609850" cy="711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정산 원장 층</a:t>
            </a:r>
            <a:endParaRPr lang="ko-KR" altLang="en-US" sz="16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D9D9D9"/>
                </a:solidFill>
              </a:rPr>
              <a:t>결과를 어떻게 남기나</a:t>
            </a:r>
            <a:endParaRPr lang="ko-KR" altLang="en-US" sz="1200" dirty="0"/>
          </a:p>
        </p:txBody>
      </p:sp>
      <p:sp>
        <p:nvSpPr>
          <p:cNvPr id="118" name="Shape 118"/>
          <p:cNvSpPr/>
          <p:nvPr/>
        </p:nvSpPr>
        <p:spPr>
          <a:xfrm>
            <a:off x="9124950" y="4114800"/>
            <a:ext cx="2609850" cy="193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171450" indent="-17145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동의 철회</a:t>
            </a:r>
            <a:r>
              <a:rPr lang="en-US" altLang="ko-KR" sz="1400" b="0" dirty="0">
                <a:solidFill>
                  <a:srgbClr val="262626"/>
                </a:solidFill>
              </a:rPr>
              <a:t>/</a:t>
            </a:r>
            <a:r>
              <a:rPr lang="ko-KR" altLang="en-US" sz="1400" b="0" dirty="0">
                <a:solidFill>
                  <a:srgbClr val="262626"/>
                </a:solidFill>
              </a:rPr>
              <a:t>분쟁 몫은 보류하고 재분배하지 않음</a:t>
            </a:r>
            <a:endParaRPr lang="ko-KR" altLang="en-US" sz="1400" dirty="0"/>
          </a:p>
          <a:p>
            <a:pPr marL="171450" indent="-171450" algn="l" eaLnBrk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환불은 원래 배분 라인을 역분개</a:t>
            </a:r>
            <a:endParaRPr lang="ko-KR" altLang="en-US" sz="1400" dirty="0"/>
          </a:p>
          <a:p>
            <a:pPr marL="171450" indent="-171450" algn="l" eaLnBrk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262626"/>
                </a:solidFill>
              </a:rPr>
              <a:t>현금 정산과 팬 포인트를 별도 원장으로 분리</a:t>
            </a:r>
            <a:endParaRPr lang="ko-KR" altLang="en-US" sz="1400" dirty="0"/>
          </a:p>
        </p:txBody>
      </p:sp>
      <p:sp>
        <p:nvSpPr>
          <p:cNvPr id="119" name="Source"/>
          <p:cNvSpPr txBox="1"/>
          <p:nvPr/>
        </p:nvSpPr>
        <p:spPr>
          <a:xfrm>
            <a:off x="457200" y="62738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7F7F7F"/>
                </a:solidFill>
              </a:rPr>
              <a:t>C1~C7: 보컬조합 사업기획서의 계약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동의 유형. 소스 구성은 예시.  출처: 보컬조합 사업기획서 v1.14 4.1절</a:t>
            </a:r>
            <a:r>
              <a:rPr lang="en-US" altLang="ko-KR" sz="1000" b="0" dirty="0">
                <a:solidFill>
                  <a:srgbClr val="7F7F7F"/>
                </a:solidFill>
              </a:rPr>
              <a:t>/</a:t>
            </a:r>
            <a:r>
              <a:rPr lang="ko-KR" altLang="en-US" sz="1000" b="0" dirty="0">
                <a:solidFill>
                  <a:srgbClr val="7F7F7F"/>
                </a:solidFill>
              </a:rPr>
              <a:t>8장, 발명 명세서 7.1절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039098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두비덥(Dobedub)은 음성 권리 연구의 결과로 MDRL을 정의했고,</a:t>
            </a:r>
            <a:endParaRPr lang="ko-KR" altLang="en-US" sz="2600" dirty="0"/>
          </a:p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이제 n차 창작의 권리 보호 체계를 함께 정할 것을 제안합니다</a:t>
            </a:r>
            <a:endParaRPr lang="ko-KR" altLang="en-US" sz="2600" dirty="0"/>
          </a:p>
        </p:txBody>
      </p:sp>
      <p:sp>
        <p:nvSpPr>
          <p:cNvPr id="100" name="Section label"/>
          <p:cNvSpPr txBox="1"/>
          <p:nvPr/>
        </p:nvSpPr>
        <p:spPr>
          <a:xfrm>
            <a:off x="457200" y="254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C1F28"/>
                </a:solidFill>
              </a:rPr>
              <a:t>제안 기관  두비덥(Dobedub)</a:t>
            </a:r>
            <a:endParaRPr lang="ko-KR" alt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457200" y="1727200"/>
            <a:ext cx="3420533" cy="2336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EC1F28"/>
                </a:solidFill>
              </a:rPr>
              <a:t>01</a:t>
            </a:r>
            <a:endParaRPr lang="ko-KR" altLang="en-US" sz="22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800" b="1" dirty="0">
                <a:solidFill>
                  <a:srgbClr val="141414"/>
                </a:solidFill>
              </a:rPr>
              <a:t>연구</a:t>
            </a:r>
            <a:r>
              <a:rPr lang="en-US" altLang="ko-KR" sz="1800" b="1" dirty="0">
                <a:solidFill>
                  <a:srgbClr val="141414"/>
                </a:solidFill>
              </a:rPr>
              <a:t>/</a:t>
            </a:r>
            <a:r>
              <a:rPr lang="ko-KR" altLang="en-US" sz="1800" b="1" dirty="0">
                <a:solidFill>
                  <a:srgbClr val="141414"/>
                </a:solidFill>
              </a:rPr>
              <a:t>개발</a:t>
            </a:r>
            <a:endParaRPr lang="ko-KR" altLang="en-US" sz="18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음성 저작권(저작인접권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 err="1">
                <a:solidFill>
                  <a:srgbClr val="404040"/>
                </a:solidFill>
              </a:rPr>
              <a:t>실연권</a:t>
            </a:r>
            <a:r>
              <a:rPr lang="ko-KR" altLang="en-US" sz="1500" b="0" dirty="0">
                <a:solidFill>
                  <a:srgbClr val="404040"/>
                </a:solidFill>
              </a:rPr>
              <a:t>)의 권리 보호와 관리 방법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시스템을 지속적으로 연구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개발</a:t>
            </a:r>
            <a:endParaRPr lang="ko-KR" altLang="en-US" sz="1500" dirty="0"/>
          </a:p>
        </p:txBody>
      </p:sp>
      <p:sp>
        <p:nvSpPr>
          <p:cNvPr id="102" name="Shape 102"/>
          <p:cNvSpPr/>
          <p:nvPr/>
        </p:nvSpPr>
        <p:spPr>
          <a:xfrm>
            <a:off x="457200" y="1727200"/>
            <a:ext cx="3420533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cxnSp>
        <p:nvCxnSpPr>
          <p:cNvPr id="103" name="Line 103"/>
          <p:cNvCxnSpPr/>
          <p:nvPr/>
        </p:nvCxnSpPr>
        <p:spPr>
          <a:xfrm>
            <a:off x="3979333" y="2895600"/>
            <a:ext cx="3048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04" name="Shape 104"/>
          <p:cNvSpPr/>
          <p:nvPr/>
        </p:nvSpPr>
        <p:spPr>
          <a:xfrm>
            <a:off x="4385733" y="1727200"/>
            <a:ext cx="3420533" cy="2336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EC1F28"/>
                </a:solidFill>
              </a:rPr>
              <a:t>02</a:t>
            </a:r>
            <a:endParaRPr lang="ko-KR" altLang="en-US" sz="22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800" b="1" dirty="0">
                <a:solidFill>
                  <a:srgbClr val="141414"/>
                </a:solidFill>
              </a:rPr>
              <a:t>MDRL 정의</a:t>
            </a:r>
            <a:r>
              <a:rPr lang="en-US" altLang="ko-KR" sz="1800" b="1" dirty="0">
                <a:solidFill>
                  <a:srgbClr val="141414"/>
                </a:solidFill>
              </a:rPr>
              <a:t>/</a:t>
            </a:r>
            <a:r>
              <a:rPr lang="ko-KR" altLang="en-US" sz="1800" b="1" dirty="0">
                <a:solidFill>
                  <a:srgbClr val="141414"/>
                </a:solidFill>
              </a:rPr>
              <a:t>특허 출원</a:t>
            </a:r>
            <a:endParaRPr lang="ko-KR" altLang="en-US" sz="18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연구 결과로 n차 파생 권리를 기술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계산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검증하는 MDRL을 정의하고 특허 출원</a:t>
            </a:r>
            <a:endParaRPr lang="ko-KR" altLang="en-US" sz="1500" dirty="0"/>
          </a:p>
        </p:txBody>
      </p:sp>
      <p:sp>
        <p:nvSpPr>
          <p:cNvPr id="105" name="Shape 105"/>
          <p:cNvSpPr/>
          <p:nvPr/>
        </p:nvSpPr>
        <p:spPr>
          <a:xfrm>
            <a:off x="4385733" y="1727200"/>
            <a:ext cx="3420533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cxnSp>
        <p:nvCxnSpPr>
          <p:cNvPr id="106" name="Line 106"/>
          <p:cNvCxnSpPr/>
          <p:nvPr/>
        </p:nvCxnSpPr>
        <p:spPr>
          <a:xfrm>
            <a:off x="7907867" y="2895600"/>
            <a:ext cx="304800" cy="0"/>
          </a:xfrm>
          <a:prstGeom prst="line">
            <a:avLst/>
          </a:prstGeom>
          <a:ln w="25400">
            <a:solidFill>
              <a:srgbClr val="EC1F28"/>
            </a:solidFill>
            <a:tailEnd type="triangle" w="med" len="med"/>
          </a:ln>
        </p:spPr>
      </p:cxnSp>
      <p:sp>
        <p:nvSpPr>
          <p:cNvPr id="107" name="Shape 107"/>
          <p:cNvSpPr/>
          <p:nvPr/>
        </p:nvSpPr>
        <p:spPr>
          <a:xfrm>
            <a:off x="8314267" y="1727200"/>
            <a:ext cx="3420533" cy="2336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EC1F28"/>
                </a:solidFill>
              </a:rPr>
              <a:t>03</a:t>
            </a:r>
            <a:endParaRPr lang="ko-KR" altLang="en-US" sz="2200" dirty="0"/>
          </a:p>
          <a:p>
            <a:pPr marL="0" indent="0" algn="l" eaLnBrk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800" b="1" dirty="0">
                <a:solidFill>
                  <a:srgbClr val="141414"/>
                </a:solidFill>
              </a:rPr>
              <a:t>권리 보호 체계 제안</a:t>
            </a:r>
            <a:endParaRPr lang="ko-KR" altLang="en-US" sz="1800" dirty="0"/>
          </a:p>
          <a:p>
            <a:pPr marL="0" indent="0" algn="l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404040"/>
                </a:solidFill>
              </a:rPr>
              <a:t>기존 체계를 확장하는 방식으로 관리단체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플랫폼</a:t>
            </a:r>
            <a:r>
              <a:rPr lang="en-US" altLang="ko-KR" sz="1500" b="0" dirty="0">
                <a:solidFill>
                  <a:srgbClr val="404040"/>
                </a:solidFill>
              </a:rPr>
              <a:t>/</a:t>
            </a:r>
            <a:r>
              <a:rPr lang="ko-KR" altLang="en-US" sz="1500" b="0" dirty="0">
                <a:solidFill>
                  <a:srgbClr val="404040"/>
                </a:solidFill>
              </a:rPr>
              <a:t>권리자와 함께 구축</a:t>
            </a:r>
            <a:endParaRPr lang="ko-KR" altLang="en-US" sz="1500" dirty="0"/>
          </a:p>
        </p:txBody>
      </p:sp>
      <p:sp>
        <p:nvSpPr>
          <p:cNvPr id="108" name="Shape 108"/>
          <p:cNvSpPr/>
          <p:nvPr/>
        </p:nvSpPr>
        <p:spPr>
          <a:xfrm>
            <a:off x="8314267" y="1727200"/>
            <a:ext cx="3420533" cy="508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  <p:sp>
        <p:nvSpPr>
          <p:cNvPr id="109" name="Shape 109"/>
          <p:cNvSpPr/>
          <p:nvPr/>
        </p:nvSpPr>
        <p:spPr>
          <a:xfrm>
            <a:off x="457200" y="4368800"/>
            <a:ext cx="11277600" cy="1930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355600" tIns="45720" rIns="355600" bIns="45720" rtlCol="0" anchor="ctr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1000"/>
              </a:spcAft>
              <a:buNone/>
            </a:pPr>
            <a:r>
              <a:rPr lang="ko-KR" altLang="en-US" sz="2200" b="1" dirty="0">
                <a:solidFill>
                  <a:srgbClr val="FFFFFF"/>
                </a:solidFill>
              </a:rPr>
              <a:t>AI 활용과 이용자 기반의 n차 창작은 이미 대세입니다.</a:t>
            </a:r>
            <a:endParaRPr lang="ko-KR" altLang="en-US" sz="22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D9D9D9"/>
                </a:solidFill>
              </a:rPr>
              <a:t>이제는 거부</a:t>
            </a:r>
            <a:r>
              <a:rPr lang="en-US" altLang="ko-KR" sz="1700" b="0" dirty="0">
                <a:solidFill>
                  <a:srgbClr val="D9D9D9"/>
                </a:solidFill>
              </a:rPr>
              <a:t>/</a:t>
            </a:r>
            <a:r>
              <a:rPr lang="ko-KR" altLang="en-US" sz="1700" b="0" dirty="0">
                <a:solidFill>
                  <a:srgbClr val="D9D9D9"/>
                </a:solidFill>
              </a:rPr>
              <a:t>배척이 아니라, 원작자와 실연자의 권리(라이선스)를 지키는</a:t>
            </a:r>
            <a:endParaRPr lang="ko-KR" altLang="en-US" sz="1700" dirty="0"/>
          </a:p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</a:rPr>
              <a:t>보호 체계를 하루빨리 정해야 합니다.</a:t>
            </a:r>
            <a:endParaRPr lang="ko-KR" altLang="en-US" sz="1700" dirty="0"/>
          </a:p>
        </p:txBody>
      </p:sp>
      <p:sp>
        <p:nvSpPr>
          <p:cNvPr id="110" name="Shape 110"/>
          <p:cNvSpPr/>
          <p:nvPr/>
        </p:nvSpPr>
        <p:spPr>
          <a:xfrm>
            <a:off x="457200" y="4368800"/>
            <a:ext cx="76200" cy="1930400"/>
          </a:xfrm>
          <a:prstGeom prst="rect">
            <a:avLst/>
          </a:prstGeom>
          <a:solidFill>
            <a:srgbClr val="EC1F2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2399225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11277600" cy="914400"/>
          </a:xfrm>
        </p:spPr>
        <p:txBody>
          <a:bodyPr lIns="0" tIns="0" rIns="0" bIns="0" anchor="t">
            <a:normAutofit/>
          </a:bodyPr>
          <a:lstStyle/>
          <a:p>
            <a:pPr marL="0" indent="0" algn="l" eaLnBrk="0" latinLnBrk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141414"/>
                </a:solidFill>
              </a:rPr>
              <a:t>협력 제안 및 다음 단계</a:t>
            </a:r>
            <a:endParaRPr lang="ko-KR" altLang="en-US" sz="2600" dirty="0"/>
          </a:p>
        </p:txBody>
      </p:sp>
      <p:sp>
        <p:nvSpPr>
          <p:cNvPr id="100" name="Shape 100"/>
          <p:cNvSpPr/>
          <p:nvPr/>
        </p:nvSpPr>
        <p:spPr>
          <a:xfrm>
            <a:off x="457200" y="1524000"/>
            <a:ext cx="3556000" cy="838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</a:rPr>
              <a:t>신탁관리단체</a:t>
            </a:r>
            <a:endParaRPr lang="ko-KR" altLang="en-US" sz="18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</a:rPr>
              <a:t>작품</a:t>
            </a:r>
            <a:r>
              <a:rPr lang="en-US" altLang="ko-KR" sz="1300" b="0" dirty="0">
                <a:solidFill>
                  <a:srgbClr val="D9D9D9"/>
                </a:solidFill>
              </a:rPr>
              <a:t>/</a:t>
            </a:r>
            <a:r>
              <a:rPr lang="ko-KR" altLang="en-US" sz="1300" b="0" dirty="0">
                <a:solidFill>
                  <a:srgbClr val="D9D9D9"/>
                </a:solidFill>
              </a:rPr>
              <a:t>실연</a:t>
            </a:r>
            <a:r>
              <a:rPr lang="en-US" altLang="ko-KR" sz="1300" b="0" dirty="0">
                <a:solidFill>
                  <a:srgbClr val="D9D9D9"/>
                </a:solidFill>
              </a:rPr>
              <a:t>/</a:t>
            </a:r>
            <a:r>
              <a:rPr lang="ko-KR" altLang="en-US" sz="1300" b="0" dirty="0">
                <a:solidFill>
                  <a:srgbClr val="D9D9D9"/>
                </a:solidFill>
              </a:rPr>
              <a:t>음반 단체</a:t>
            </a:r>
            <a:endParaRPr lang="ko-KR" altLang="en-US" sz="1300" dirty="0"/>
          </a:p>
        </p:txBody>
      </p:sp>
      <p:sp>
        <p:nvSpPr>
          <p:cNvPr id="101" name="Shape 101"/>
          <p:cNvSpPr/>
          <p:nvPr/>
        </p:nvSpPr>
        <p:spPr>
          <a:xfrm>
            <a:off x="457200" y="2362200"/>
            <a:ext cx="3556000" cy="203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77800" rIns="177800" bIns="1778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기존 </a:t>
            </a:r>
            <a:r>
              <a:rPr lang="ko-KR" altLang="en-US" sz="1500" b="0" dirty="0" err="1">
                <a:solidFill>
                  <a:srgbClr val="262626"/>
                </a:solidFill>
              </a:rPr>
              <a:t>요율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배분 규정은 그대로 유지</a:t>
            </a:r>
            <a:endParaRPr lang="ko-KR" altLang="en-US" sz="1500" dirty="0"/>
          </a:p>
          <a:p>
            <a:pPr marL="171450" indent="-171450" algn="l" eaLnBrk="0" latinLnBrk="0">
              <a:spcBef>
                <a:spcPts val="8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관리 위임 사실을 MDRL 사실 문서로 등록</a:t>
            </a:r>
            <a:endParaRPr lang="ko-KR" altLang="en-US" sz="1500" dirty="0"/>
          </a:p>
          <a:p>
            <a:pPr marL="171450" indent="-171450" algn="l" eaLnBrk="0" latinLnBrk="0">
              <a:spcBef>
                <a:spcPts val="8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분쟁 보류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 err="1">
                <a:solidFill>
                  <a:srgbClr val="262626"/>
                </a:solidFill>
              </a:rPr>
              <a:t>미매칭</a:t>
            </a:r>
            <a:r>
              <a:rPr lang="ko-KR" altLang="en-US" sz="1500" b="0" dirty="0">
                <a:solidFill>
                  <a:srgbClr val="262626"/>
                </a:solidFill>
              </a:rPr>
              <a:t> 금액의 처리 기준 협의</a:t>
            </a:r>
            <a:endParaRPr lang="ko-KR" altLang="en-US" sz="1500" dirty="0"/>
          </a:p>
        </p:txBody>
      </p:sp>
      <p:sp>
        <p:nvSpPr>
          <p:cNvPr id="102" name="Shape 102"/>
          <p:cNvSpPr/>
          <p:nvPr/>
        </p:nvSpPr>
        <p:spPr>
          <a:xfrm>
            <a:off x="4318000" y="1524000"/>
            <a:ext cx="3556000" cy="838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</a:rPr>
              <a:t>플랫폼</a:t>
            </a:r>
            <a:r>
              <a:rPr lang="en-US" altLang="ko-KR" sz="1800" b="1" dirty="0">
                <a:solidFill>
                  <a:srgbClr val="FFFFFF"/>
                </a:solidFill>
              </a:rPr>
              <a:t>/</a:t>
            </a:r>
            <a:r>
              <a:rPr lang="ko-KR" altLang="en-US" sz="1800" b="1" dirty="0" err="1">
                <a:solidFill>
                  <a:srgbClr val="FFFFFF"/>
                </a:solidFill>
              </a:rPr>
              <a:t>유통사</a:t>
            </a:r>
            <a:endParaRPr lang="ko-KR" altLang="en-US" sz="18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</a:rPr>
              <a:t>보컬 조합</a:t>
            </a:r>
            <a:r>
              <a:rPr lang="en-US" altLang="ko-KR" sz="1300" b="0" dirty="0">
                <a:solidFill>
                  <a:srgbClr val="D9D9D9"/>
                </a:solidFill>
              </a:rPr>
              <a:t>/</a:t>
            </a:r>
            <a:r>
              <a:rPr lang="ko-KR" altLang="en-US" sz="1300" b="0" dirty="0">
                <a:solidFill>
                  <a:srgbClr val="D9D9D9"/>
                </a:solidFill>
              </a:rPr>
              <a:t>리믹스 서비스, DSP</a:t>
            </a:r>
            <a:endParaRPr lang="ko-KR" altLang="en-US" sz="1300" dirty="0"/>
          </a:p>
        </p:txBody>
      </p:sp>
      <p:sp>
        <p:nvSpPr>
          <p:cNvPr id="103" name="Shape 103"/>
          <p:cNvSpPr/>
          <p:nvPr/>
        </p:nvSpPr>
        <p:spPr>
          <a:xfrm>
            <a:off x="4318000" y="2362200"/>
            <a:ext cx="3556000" cy="203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77800" rIns="177800" bIns="1778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권리 사실 저장소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정산 원장 연동 시범</a:t>
            </a:r>
            <a:endParaRPr lang="ko-KR" altLang="en-US" sz="1500" dirty="0"/>
          </a:p>
          <a:p>
            <a:pPr marL="171450" indent="-171450" algn="l" eaLnBrk="0" latinLnBrk="0">
              <a:spcBef>
                <a:spcPts val="8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창작 모드별 프로파일 공동 작성</a:t>
            </a:r>
            <a:endParaRPr lang="ko-KR" altLang="en-US" sz="1500" dirty="0"/>
          </a:p>
          <a:p>
            <a:pPr marL="171450" indent="-171450" algn="l" eaLnBrk="0" latinLnBrk="0">
              <a:spcBef>
                <a:spcPts val="8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DDEX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CWR 어댑터 형식 검증</a:t>
            </a:r>
            <a:endParaRPr lang="ko-KR" altLang="en-US" sz="1500" dirty="0"/>
          </a:p>
        </p:txBody>
      </p:sp>
      <p:sp>
        <p:nvSpPr>
          <p:cNvPr id="104" name="Shape 104"/>
          <p:cNvSpPr/>
          <p:nvPr/>
        </p:nvSpPr>
        <p:spPr>
          <a:xfrm>
            <a:off x="8178800" y="1524000"/>
            <a:ext cx="3556000" cy="838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wrap="square" lIns="177800" tIns="45720" rIns="177800" bIns="45720" rtlCol="0" anchor="ctr">
            <a:noAutofit/>
          </a:bodyPr>
          <a:lstStyle/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</a:rPr>
              <a:t>권리자</a:t>
            </a:r>
            <a:r>
              <a:rPr lang="en-US" altLang="ko-KR" sz="1800" b="1" dirty="0">
                <a:solidFill>
                  <a:srgbClr val="FFFFFF"/>
                </a:solidFill>
              </a:rPr>
              <a:t>/</a:t>
            </a:r>
            <a:r>
              <a:rPr lang="ko-KR" altLang="en-US" sz="1800" b="1" dirty="0">
                <a:solidFill>
                  <a:srgbClr val="FFFFFF"/>
                </a:solidFill>
              </a:rPr>
              <a:t>창작자</a:t>
            </a:r>
            <a:endParaRPr lang="ko-KR" altLang="en-US" sz="1800" dirty="0"/>
          </a:p>
          <a:p>
            <a:pPr marL="0" indent="0" algn="ctr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9D9D9"/>
                </a:solidFill>
              </a:rPr>
              <a:t>작가, 실연자, 제작사, 2차 창작자</a:t>
            </a:r>
            <a:endParaRPr lang="ko-KR" altLang="en-US" sz="1300" dirty="0"/>
          </a:p>
        </p:txBody>
      </p:sp>
      <p:sp>
        <p:nvSpPr>
          <p:cNvPr id="105" name="Shape 105"/>
          <p:cNvSpPr/>
          <p:nvPr/>
        </p:nvSpPr>
        <p:spPr>
          <a:xfrm>
            <a:off x="8178800" y="2362200"/>
            <a:ext cx="3556000" cy="203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77800" rIns="177800" bIns="177800" rtlCol="0" anchor="t">
            <a:noAutofit/>
          </a:bodyPr>
          <a:lstStyle/>
          <a:p>
            <a:pPr marL="171450" indent="-171450" algn="l" eaLnBrk="0" latinLnBrk="0">
              <a:spcBef>
                <a:spcPts val="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자기 몫의 정산 결과 직접 검증</a:t>
            </a:r>
            <a:endParaRPr lang="ko-KR" altLang="en-US" sz="1500" dirty="0"/>
          </a:p>
          <a:p>
            <a:pPr marL="171450" indent="-171450" algn="l" eaLnBrk="0" latinLnBrk="0">
              <a:spcBef>
                <a:spcPts val="8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역할별 크레딧과 허락 범위 등록</a:t>
            </a:r>
            <a:endParaRPr lang="ko-KR" altLang="en-US" sz="1500" dirty="0"/>
          </a:p>
          <a:p>
            <a:pPr marL="171450" indent="-171450" algn="l" eaLnBrk="0" latinLnBrk="0">
              <a:spcBef>
                <a:spcPts val="800"/>
              </a:spcBef>
              <a:spcAft>
                <a:spcPts val="0"/>
              </a:spcAft>
              <a:buClr>
                <a:srgbClr val="EC1F28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262626"/>
                </a:solidFill>
              </a:rPr>
              <a:t>AI 학습</a:t>
            </a:r>
            <a:r>
              <a:rPr lang="en-US" altLang="ko-KR" sz="1500" b="0" dirty="0">
                <a:solidFill>
                  <a:srgbClr val="262626"/>
                </a:solidFill>
              </a:rPr>
              <a:t>/</a:t>
            </a:r>
            <a:r>
              <a:rPr lang="ko-KR" altLang="en-US" sz="1500" b="0" dirty="0">
                <a:solidFill>
                  <a:srgbClr val="262626"/>
                </a:solidFill>
              </a:rPr>
              <a:t>생성 동의의 분리 관리</a:t>
            </a:r>
            <a:endParaRPr lang="ko-KR" altLang="en-US" sz="1500" dirty="0"/>
          </a:p>
        </p:txBody>
      </p:sp>
      <p:sp>
        <p:nvSpPr>
          <p:cNvPr id="106" name="Shape 106"/>
          <p:cNvSpPr/>
          <p:nvPr/>
        </p:nvSpPr>
        <p:spPr>
          <a:xfrm>
            <a:off x="457200" y="46482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EC1F28"/>
                </a:solidFill>
              </a:rPr>
              <a:t>다음 단계</a:t>
            </a:r>
            <a:endParaRPr lang="ko-KR" altLang="en-US" sz="1700" dirty="0"/>
          </a:p>
        </p:txBody>
      </p:sp>
      <p:sp>
        <p:nvSpPr>
          <p:cNvPr id="107" name="Shape 107"/>
          <p:cNvSpPr/>
          <p:nvPr/>
        </p:nvSpPr>
        <p:spPr>
          <a:xfrm>
            <a:off x="457200" y="5029200"/>
            <a:ext cx="2667000" cy="1066800"/>
          </a:xfrm>
          <a:prstGeom prst="rect">
            <a:avLst/>
          </a:prstGeom>
          <a:noFill/>
          <a:ln w="12700">
            <a:solidFill>
              <a:srgbClr val="EC1F28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1  공개 규격 검토</a:t>
            </a:r>
            <a:endParaRPr lang="ko-KR" altLang="en-US" sz="1500" dirty="0"/>
          </a:p>
          <a:p>
            <a:pPr marL="0" indent="0" algn="l" eaLnBrk="0" latinLnBrk="0">
              <a:spcBef>
                <a:spcPts val="4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마스터 규격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>
                <a:solidFill>
                  <a:srgbClr val="404040"/>
                </a:solidFill>
              </a:rPr>
              <a:t>레퍼런스 평가기 공개 검토</a:t>
            </a:r>
            <a:endParaRPr lang="ko-KR" altLang="en-US" sz="1400" dirty="0"/>
          </a:p>
        </p:txBody>
      </p:sp>
      <p:sp>
        <p:nvSpPr>
          <p:cNvPr id="108" name="Shape 108"/>
          <p:cNvSpPr/>
          <p:nvPr/>
        </p:nvSpPr>
        <p:spPr>
          <a:xfrm>
            <a:off x="3327400" y="5029200"/>
            <a:ext cx="2667000" cy="1066800"/>
          </a:xfrm>
          <a:prstGeom prst="rect">
            <a:avLst/>
          </a:prstGeom>
          <a:noFill/>
          <a:ln w="12700">
            <a:solidFill>
              <a:srgbClr val="EC1F28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2  프로파일 공동 작성</a:t>
            </a:r>
            <a:endParaRPr lang="ko-KR" altLang="en-US" sz="1500" dirty="0"/>
          </a:p>
          <a:p>
            <a:pPr marL="0" indent="0" algn="l" eaLnBrk="0" latinLnBrk="0">
              <a:spcBef>
                <a:spcPts val="4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보컬 조합 등 우선 모드 선정</a:t>
            </a:r>
            <a:endParaRPr lang="ko-KR" altLang="en-US" sz="1400" dirty="0"/>
          </a:p>
        </p:txBody>
      </p:sp>
      <p:sp>
        <p:nvSpPr>
          <p:cNvPr id="109" name="Shape 109"/>
          <p:cNvSpPr/>
          <p:nvPr/>
        </p:nvSpPr>
        <p:spPr>
          <a:xfrm>
            <a:off x="6197600" y="5029200"/>
            <a:ext cx="2667000" cy="1066800"/>
          </a:xfrm>
          <a:prstGeom prst="rect">
            <a:avLst/>
          </a:prstGeom>
          <a:noFill/>
          <a:ln w="12700">
            <a:solidFill>
              <a:srgbClr val="EC1F28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3  시범 연동</a:t>
            </a:r>
            <a:endParaRPr lang="ko-KR" altLang="en-US" sz="1500" dirty="0"/>
          </a:p>
          <a:p>
            <a:pPr marL="0" indent="0" algn="l" eaLnBrk="0" latinLnBrk="0">
              <a:spcBef>
                <a:spcPts val="4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한 플랫폼</a:t>
            </a:r>
            <a:r>
              <a:rPr lang="en-US" altLang="ko-KR" sz="1400" b="0" dirty="0">
                <a:solidFill>
                  <a:srgbClr val="404040"/>
                </a:solidFill>
              </a:rPr>
              <a:t>/</a:t>
            </a:r>
            <a:r>
              <a:rPr lang="ko-KR" altLang="en-US" sz="1400" b="0" dirty="0">
                <a:solidFill>
                  <a:srgbClr val="404040"/>
                </a:solidFill>
              </a:rPr>
              <a:t>한 카탈로그로 정산 병행 비교</a:t>
            </a:r>
            <a:endParaRPr lang="ko-KR" altLang="en-US" sz="1400" dirty="0"/>
          </a:p>
        </p:txBody>
      </p:sp>
      <p:sp>
        <p:nvSpPr>
          <p:cNvPr id="110" name="Shape 110"/>
          <p:cNvSpPr/>
          <p:nvPr/>
        </p:nvSpPr>
        <p:spPr>
          <a:xfrm>
            <a:off x="9067800" y="5029200"/>
            <a:ext cx="2667000" cy="1066800"/>
          </a:xfrm>
          <a:prstGeom prst="rect">
            <a:avLst/>
          </a:prstGeom>
          <a:noFill/>
          <a:ln w="12700">
            <a:solidFill>
              <a:srgbClr val="EC1F28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 eaLnBrk="0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EC1F28"/>
                </a:solidFill>
              </a:rPr>
              <a:t>4  적합성 인증</a:t>
            </a:r>
            <a:endParaRPr lang="ko-KR" altLang="en-US" sz="1500" dirty="0"/>
          </a:p>
          <a:p>
            <a:pPr marL="0" indent="0" algn="l" eaLnBrk="0" latinLnBrk="0">
              <a:spcBef>
                <a:spcPts val="40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404040"/>
                </a:solidFill>
              </a:rPr>
              <a:t>적합성 벡터로 구현체 검증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762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 [1791255955225]">
  <a:themeElements>
    <a:clrScheme name="Office">
      <a:dk1>
        <a:sysClr val="windowText" lastClr="000000"/>
      </a:dk1>
      <a:lt1>
        <a:sysClr val="window" lastClr="FFFFFF"/>
      </a:lt1>
      <a:dk2>
        <a:srgbClr val="141414"/>
      </a:dk2>
      <a:lt2>
        <a:srgbClr val="E8E8E8"/>
      </a:lt2>
      <a:accent1>
        <a:srgbClr val="EC1F28"/>
      </a:accent1>
      <a:accent2>
        <a:srgbClr val="3A3A3A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D6555D6-7B62-A140-93A2-9D02DE6B49B4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60828fd3-23a2-4794-88c5-884c506287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3510</Words>
  <Application>Microsoft Macintosh PowerPoint</Application>
  <PresentationFormat>와이드스크린</PresentationFormat>
  <Paragraphs>537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Malgun Gothic</vt:lpstr>
      <vt:lpstr>Malgun Gothic</vt:lpstr>
      <vt:lpstr>Arial</vt:lpstr>
      <vt:lpstr>Consolas</vt:lpstr>
      <vt:lpstr>Office 테마</vt:lpstr>
      <vt:lpstr>Office 테마</vt:lpstr>
      <vt:lpstr>Office 테마 [1791255955225]</vt:lpstr>
      <vt:lpstr>음악 n차 저작물의 권리 관리를 위한 도메인 특화 언어 MDRL</vt:lpstr>
      <vt:lpstr>MDRL은 기존 권리 체계를 대체하지 않고 확장해, n차 파생 권리를 보호하고 정산을 투명하게 만듭니다</vt:lpstr>
      <vt:lpstr>한 곡에는 작품/실연/음반 세 겹의 권리가 있어, 보컬 하나만 바꿔도 여러 허락이 필요합니다</vt:lpstr>
      <vt:lpstr>n차 창작은 단계마다 권리자와 허락 조건이 늘어나, 결과물 하나에 여러 권리 관계가 겹칩니다</vt:lpstr>
      <vt:lpstr>기존 도구는 각자 맡은 일을 잘하지만, n차 결과물의 허락과 안분을 계산하는 층은 비어 있습니다</vt:lpstr>
      <vt:lpstr>식별자 표준이 있어도 매칭이 실패하면 지급이 멈추고, 파생 단계가 깊어질수록 실패 지점이 늘어납니다</vt:lpstr>
      <vt:lpstr>종합하면, 현행 체계는 n차 창작에서 생기는 8가지 권리 관리 문제를 풀지 못합니다</vt:lpstr>
      <vt:lpstr>MDRL은 n차 이용의 권리 사실/허락/안분을 누구나 읽고 검증할 수 있는 개방형 언어로 기술합니다</vt:lpstr>
      <vt:lpstr>MDRL은 기존 표준을 대체하지 않고, 기존 체계가 답하지 않는 층을 위에 더합니다</vt:lpstr>
      <vt:lpstr>권리 사실/이용허락/안분/정산 원장을 4개 층으로 분리해, 금액이 계산된 것을 허락으로 오인하지 않게 합니다</vt:lpstr>
      <vt:lpstr>8가지 문제마다 대응하는 설계 개념이 있어, 각 문제를 규칙으로 검증할 수 있습니다</vt:lpstr>
      <vt:lpstr>권리 관리 파이프라인은 문서 입력부터 외부 검증까지 8단계로, 각 단계의 산출물을 해시로 고정해 다시 계산할 수 있습니다</vt:lpstr>
      <vt:lpstr>플랫폼과 관리단체는 기존 저장소/원장/표준을 그대로 두고, 입력과 원장 인계 두 지점에서만 MDRL과 연결됩니다</vt:lpstr>
      <vt:lpstr>예시 ①  결과물의 허락 범위는 소스별 허락의 교집합이어서, X001의 해외 배포는 금액과 관계없이 거부됩니다</vt:lpstr>
      <vt:lpstr>예시 ②  매출 10,000원 중 권리자 몫 7,000원을 역할별로 나누고, 합계는 1원 단위까지 맞습니다</vt:lpstr>
      <vt:lpstr>예시 ③  권리가 이전되거나 분쟁이 생겨도 과거 정산은 재현되고, 분쟁 그룹의 몫만 보류됩니다</vt:lpstr>
      <vt:lpstr>예시 ④  창작 모드마다 새로 생기는 권리와 필요한 동의가 달라, 프로파일이 모드별 승인 조건을 등록합니다</vt:lpstr>
      <vt:lpstr>예시 ⑤  보컬조합 음원 한 곡에 얽힌 5개 소스와 7가지 동의도 MDRL의 4개 층에서 한 번에 판정/안분 됩니다</vt:lpstr>
      <vt:lpstr>두비덥(Dobedub)은 음성 권리 연구의 결과로 MDRL을 정의했고, 이제 n차 창작의 권리 보호 체계를 함께 정할 것을 제안합니다</vt:lpstr>
      <vt:lpstr>협력 제안 및 다음 단계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 균은</dc:creator>
  <cp:lastModifiedBy>장 균은</cp:lastModifiedBy>
  <cp:revision>4</cp:revision>
  <dcterms:created xsi:type="dcterms:W3CDTF">2026-10-06T01:21:26Z</dcterms:created>
  <dcterms:modified xsi:type="dcterms:W3CDTF">2026-10-06T04:38:27Z</dcterms:modified>
</cp:coreProperties>
</file>