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4630400" cy="8229600"/>
  <p:notesSz cx="8229600" cy="14630400"/>
  <p:embeddedFontLst>
    <p:embeddedFont>
      <p:font typeface="Syne" panose="020B0600000101010101" charset="0"/>
      <p:regular r:id="rId24"/>
    </p:embeddedFont>
    <p:embeddedFont>
      <p:font typeface="Syne Extra Bold" panose="020B0600000101010101" charset="0"/>
      <p:regular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79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355"/>
            <a:ext cx="6265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보컬 커스터마이징을 통한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5295"/>
            <a:ext cx="114347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New global music market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3642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K-POP의 글로벌 팬덤은 새로운 시대의 음악 소비 경험을 요구하고 있습니다. 팬들을 진정한 음악의 주인으로 만드세요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822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단순히 듣는 것을 넘어, 자신만의 특별한 음악을 조합하고 소유하도록 이끄십시오.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003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두비덥(DOBEDUB)은 혁신적인 솔루션으로 새로운 니즈를 만들고 충족시키는 새 시장을 만듭니다다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5747"/>
            <a:ext cx="119075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프로젝트 - </a:t>
            </a:r>
            <a:r>
              <a:rPr lang="en-US" sz="35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Personalized Vocal Edition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214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핵심 아이디어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958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기존 보컬 음원을 24개 이상의 보컬 파트(Stem)로 분할하여, 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628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팬들이 원하는 멤버(가수)의 보컬 파트를 자유롭게 재조합해 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297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듣거나 구매할 수 있는 서비스입니다.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214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가치 제안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7958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팬들의 의지로 무궁무진한 N 차 조합이 생겨납니다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628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각 조합에 대한 과금/NFT 판매로, 기존 음원 시장 대비 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9297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수익 극대화. 팬덤 Lock-in 효과로, 굳건한 충성도 확보. 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967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세계 최초의 본격 커스터마이징 시장 형성.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01014"/>
            <a:ext cx="660273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K-POP 팬덤의 폭발적인 성장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347829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417439" y="3478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글로벌 팬덤 확장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17439" y="3968710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이미 전 세계적으로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417439" y="4467701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K-POP 콘텐츠에 대한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417439" y="4966692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지불 의사가 높습니다.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467" y="347829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309116" y="3478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해외 스트리밍 성장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09116" y="3968710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2025년까지 해외 스트리밍 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309116" y="4467701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플랫폼(Kpop 섹션)의 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309116" y="4966692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연평균 성장률(CAGR)이 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309116" y="5465683"/>
            <a:ext cx="30412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15% 이상 전망됩니다.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9375"/>
            <a:ext cx="6265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변화하는 음악 소비 트렌드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단순 스트리밍을 넘어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사용자 참여형(UGC) 및 개인화 추세가 급증하고 있습니다.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수익화 기회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Tiktok 리믹스, 팬메이드 커버 등 폭발적 트래픽을 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공식 라이선스로 ‘수익화’할 필요가 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686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나만의 ‘</a:t>
            </a:r>
            <a:r>
              <a:rPr lang="en-US" sz="44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Customized Track</a:t>
            </a: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’ 트렌드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34583"/>
            <a:ext cx="3664863" cy="3318153"/>
          </a:xfrm>
          <a:prstGeom prst="roundRect">
            <a:avLst>
              <a:gd name="adj" fmla="val 28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514624" y="35690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팬심을 사로잡는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05943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업계에서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455842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아직 공식적·합법적인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14624" y="505741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커스터마이징 서비스를 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514624" y="5556409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찾기 어렵습니다.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71867" y="3334583"/>
            <a:ext cx="3664863" cy="3318153"/>
          </a:xfrm>
          <a:prstGeom prst="roundRect">
            <a:avLst>
              <a:gd name="adj" fmla="val 28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406301" y="35690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새로운 부가가치 창출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06301" y="405943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두비덥의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406301" y="455842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BM 특허 기반 솔루션을 통해, 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406301" y="5057418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팬들이 원하는 목소리 파트만 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406301" y="5556409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골라 듣고, 새로운 부가가치를 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406301" y="6055400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창출할 수 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3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11" y="575786"/>
            <a:ext cx="6936700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“ </a:t>
            </a:r>
            <a:r>
              <a:rPr lang="en-US" sz="32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Customized Track</a:t>
            </a:r>
            <a:r>
              <a:rPr lang="en-US" sz="32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” 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732711" y="1308497"/>
            <a:ext cx="4187547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  서비스 개요</a:t>
            </a:r>
            <a:endParaRPr lang="en-US" sz="3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1" y="2145863"/>
            <a:ext cx="523399" cy="5233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2711" y="287857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보컬 파트 선택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32711" y="3331250"/>
            <a:ext cx="36822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원곡의 보컬 파트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2711" y="3791903"/>
            <a:ext cx="36822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(24개 이상 분할된 Stem) 중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2711" y="4252555"/>
            <a:ext cx="36822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각 구간을 원하는 멤버로 선택.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924" y="2145863"/>
            <a:ext cx="523399" cy="5233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8924" y="287857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즉시 재생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4728924" y="3331250"/>
            <a:ext cx="36823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선택한 조합으로 즉시 재생하거나,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11" y="5215652"/>
            <a:ext cx="523399" cy="5233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2711" y="5948363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구매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32711" y="6401038"/>
            <a:ext cx="36822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(1) 디지털 파일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732711" y="6861691"/>
            <a:ext cx="36822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(2) NFT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32711" y="7322344"/>
            <a:ext cx="368224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(3) 맞춤앨범 등으로 구매 가능.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2590"/>
            <a:ext cx="60667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BM 특허 &amp; 핵심 기술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1771531"/>
            <a:ext cx="30480" cy="573536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6845022" y="226659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365200" y="20266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530340" y="2111693"/>
            <a:ext cx="1800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19983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특허명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2488763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사용자 선택에 기초한 복수의 보컬 조합을 이용한 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867888" y="2987754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온라인 음악 콘텐츠 등록 및 유통 방법 및 이를 위한 시스템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845022" y="42993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365200" y="40594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49735" y="4144447"/>
            <a:ext cx="34123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8678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핵심 기술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67888" y="4521517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저작권 보호·정산 자동화 + 즉시 재생 + NFT 민팅(민트)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867888" y="5020508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기능이 결합된 프로세스.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845022" y="633210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365200" y="60921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440805" y="6177201"/>
            <a:ext cx="3589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20" name="Text 17"/>
          <p:cNvSpPr/>
          <p:nvPr/>
        </p:nvSpPr>
        <p:spPr>
          <a:xfrm>
            <a:off x="7867888" y="6063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제공 방식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867888" y="655427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B2B2C: 두비덥(기술 공급) → 음반제작사(오리지널 음원 소유) &amp; 플랫폼(서비스 운영) → 최종 소비자.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569" y="585788"/>
            <a:ext cx="6168033" cy="1064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‘</a:t>
            </a:r>
            <a:r>
              <a:rPr lang="en-US" sz="33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내가 만든 유일한 조합</a:t>
            </a:r>
            <a:r>
              <a:rPr lang="en-US" sz="33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’의 가치
-</a:t>
            </a:r>
            <a:r>
              <a:rPr lang="en-US" sz="3350" b="1" dirty="0">
                <a:solidFill>
                  <a:srgbClr val="F9D933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BTS Dynamite 1곡</a:t>
            </a:r>
            <a:r>
              <a:rPr lang="en-US" sz="33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-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745569" y="1996678"/>
            <a:ext cx="3666649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7^24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1247537" y="2965728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조합 경우의 수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45569" y="3426262"/>
            <a:ext cx="3666649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BTS 멤버 7명이 24개 파트를 나누어 부른다고 가정 시, 약 1.9×10^20 (190경) 이상의 조합이 가능합니다.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731663" y="1996678"/>
            <a:ext cx="3666768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$10</a:t>
            </a:r>
            <a:endParaRPr lang="en-US" sz="5500" dirty="0"/>
          </a:p>
        </p:txBody>
      </p:sp>
      <p:sp>
        <p:nvSpPr>
          <p:cNvPr id="8" name="Text 5"/>
          <p:cNvSpPr/>
          <p:nvPr/>
        </p:nvSpPr>
        <p:spPr>
          <a:xfrm>
            <a:off x="5233630" y="2965728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스트리밍 과금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731663" y="3426262"/>
            <a:ext cx="3666768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1회 커스터마이징 시도마다 12달러 과금, 혹은 월 구독 모델(프리미엄 기능)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45569" y="5193983"/>
            <a:ext cx="3666649" cy="70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$510+</a:t>
            </a:r>
            <a:endParaRPr lang="en-US" sz="5500" dirty="0"/>
          </a:p>
        </p:txBody>
      </p:sp>
      <p:sp>
        <p:nvSpPr>
          <p:cNvPr id="11" name="Text 8"/>
          <p:cNvSpPr/>
          <p:nvPr/>
        </p:nvSpPr>
        <p:spPr>
          <a:xfrm>
            <a:off x="1247537" y="6163032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NFT 가치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745569" y="6623566"/>
            <a:ext cx="3666649" cy="1022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1조합당 510달러 이상의 가치. 한정판 멤버 파트 광고, 쿠폰 등 결합 시 더 고가 판매 가능.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0289"/>
            <a:ext cx="6786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시장 규모 추정 &amp; 수익 모델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7269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BTS Army 들에게 다이너마이트 보컬 꾸러미를 선물로 드리세요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081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잠재 고객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893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K-POP 글로벌 팬덤은 3억 명 이상으로 추산됩니다.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4081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수익 예상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98931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연간 1%만 유료 커스터마이징 구매 시, 300만 명 X 평균 10달러 = 3,000만 달러 (약 390억 원) / 단일 곡만으로도 발생 가능.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81908"/>
            <a:ext cx="633472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NFT 판매로 새로운 수익 창출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804035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030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소유권 증명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52126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곡 조합을 NFT로 ‘민팅’하여 소유권을 부여합니다.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618548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8453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2차 거래 로열티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335780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NFT 2차 거래(리셀)에서도 일정 로열티 발생.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433060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희소성 가치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150293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팬덤 사이에서 레어(희귀) 조합이나 특정 이벤트 한정판 NFT는 수백 달러 이상에 거래될 가능성이 높습니다.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91953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사용자 Flow &amp; 보안/저작권 관리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8224" y="3048953"/>
            <a:ext cx="15001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플랫폼 접속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339465"/>
            <a:ext cx="80769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원하는 곡 선택 → 보컬 파트 24개 중, 각 파트를 맡을 멤버 지정 (UI 간단) → 즉시 미리듣기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28224" y="4469249"/>
            <a:ext cx="2843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구매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759762"/>
            <a:ext cx="60434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마음에 들면 구매(스트리밍/TEMP 다운로드/NFT 등 선택) → 결제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28224" y="5889546"/>
            <a:ext cx="29896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독점 감상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58979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본인 전용 링크 or NFT 소지로 커스터마이징 버전 독점 감상 가능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683" y="554593"/>
            <a:ext cx="7422118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강력한 보안 시스템 &amp; 저작권 관리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423" y="1587818"/>
            <a:ext cx="1635800" cy="1483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43588" y="2320409"/>
            <a:ext cx="13335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029795" y="1950601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DRM &amp; 워터마킹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029795" y="2386608"/>
            <a:ext cx="5347454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커스터마이징된 음원이 불법 유출되더라도 원본 구매자 식별 가능.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878586" y="3087410"/>
            <a:ext cx="8995767" cy="11430"/>
          </a:xfrm>
          <a:prstGeom prst="roundRect">
            <a:avLst>
              <a:gd name="adj" fmla="val 74087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583" y="3122176"/>
            <a:ext cx="3271599" cy="14839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3938" y="3662482"/>
            <a:ext cx="25277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5847755" y="3323749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서버 사이드 렌더링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847755" y="3759756"/>
            <a:ext cx="787538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음원을 클라이언트 디바이스가 아닌 서버에서 합성·스트리밍하므로, 직접 Stem 파일 유출 최소화.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696545" y="4621768"/>
            <a:ext cx="8177808" cy="11430"/>
          </a:xfrm>
          <a:prstGeom prst="roundRect">
            <a:avLst>
              <a:gd name="adj" fmla="val 74087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623" y="4656534"/>
            <a:ext cx="4907518" cy="14839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77389" y="5196840"/>
            <a:ext cx="265867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6665714" y="4858107"/>
            <a:ext cx="2875955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실시간 Usage Log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665714" y="5294114"/>
            <a:ext cx="7057430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어떤 파트가 몇 번 사용되었는지, 어떤 멤버 파트 조합이 많이 팔리는지 데이터 분석 제공.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514505" y="6156127"/>
            <a:ext cx="7359848" cy="11430"/>
          </a:xfrm>
          <a:prstGeom prst="roundRect">
            <a:avLst>
              <a:gd name="adj" fmla="val 74087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64" y="6190893"/>
            <a:ext cx="6543318" cy="14839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72508" y="6731198"/>
            <a:ext cx="275630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7483554" y="6392466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자동 로열티 분배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483554" y="6828473"/>
            <a:ext cx="6239589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블록체인 원장 또는 자체 정산 시스템으로 아티스트·기획사·작곡가의 몫을 투명하게 산출.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7228"/>
            <a:ext cx="60207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로드맵: 3단계 성장 전략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726168"/>
            <a:ext cx="30480" cy="5826085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358622" y="222123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78800" y="198131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043940" y="2066330"/>
            <a:ext cx="1800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1952982"/>
            <a:ext cx="32579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Phase 1: 시범 서비스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443401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자사(혹은 합의된 곡) 1~2곡으로 POC(Proof of Concept) 3개월 내 MVP 출시 → 팬덤 반응 및 매출 성과 파악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117896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78800" y="38779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63335" y="3962995"/>
            <a:ext cx="34123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3849648"/>
            <a:ext cx="31315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Phase 2: 확대 도입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340066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성과 데이터(평균 결제 건수, ARPU 등) 기반으로 본격 마케팅 스트리밍 플랫폼과 API 연동, 글로벌 타깃 홍보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01456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6D912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78800" y="57746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54405" y="5859661"/>
            <a:ext cx="3589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746313"/>
            <a:ext cx="5188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Phase 3: NFT &amp; 메타버스 연계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236732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아티스트 굿즈(포토카드, 한정 MD)와 결합한 커스터마이징 음원 NFT 발행 메타버스 공연(유니버스, 제페토 등)에서 “내가 만든 보컬 조합”으로 공연 시청.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07175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경쟁 우위: 독점성 &amp; K-POP 팬덤 결합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BM 특허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현재 시장에 비슷한 서비스를 제공하는 곳이 없으며, 타사 모방 어려움.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강력한 팬덤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팬덤이 원하는 것은 “멤버별 차별화된 음원.” 이 서비스를 공식 루트로 제공함으로써, 불법 편집·커버 등을 흡수해 합법화·수익화 가능.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1191"/>
            <a:ext cx="612243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추가 부가서비스 &amp; 시너지 효과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3683317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514624" y="3917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멤버별 보이스 코멘터리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408170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“멤버별 파트별 보이스 코멘터리” 등 확장 콘텐츠를 제공, 1차 음원 매출 + 2차 굿즈/콘서트 매출 시너지.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1616" y="610076"/>
            <a:ext cx="5537359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예상 이익 &amp; 투자 가치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1616" y="1745099"/>
            <a:ext cx="3630692" cy="730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50"/>
              </a:lnSpc>
              <a:buNone/>
            </a:pPr>
            <a:r>
              <a:rPr lang="en-US" sz="57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$10M</a:t>
            </a:r>
            <a:endParaRPr lang="en-US" sz="5750" dirty="0"/>
          </a:p>
        </p:txBody>
      </p:sp>
      <p:sp>
        <p:nvSpPr>
          <p:cNvPr id="5" name="Text 2"/>
          <p:cNvSpPr/>
          <p:nvPr/>
        </p:nvSpPr>
        <p:spPr>
          <a:xfrm>
            <a:off x="6692622" y="2752844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단일 곡 예상 수익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261616" y="3231713"/>
            <a:ext cx="3630692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글로벌 팬덤 (예: 5천만 명) 중 2%가 구매 → 100만 명 1인당 평균 결제액 10달러 → 1,000만 달러(130억 원) 수익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224492" y="1745099"/>
            <a:ext cx="3630692" cy="730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50"/>
              </a:lnSpc>
              <a:buNone/>
            </a:pPr>
            <a:r>
              <a:rPr lang="en-US" sz="57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65억</a:t>
            </a:r>
            <a:endParaRPr lang="en-US" sz="5750" dirty="0"/>
          </a:p>
        </p:txBody>
      </p:sp>
      <p:sp>
        <p:nvSpPr>
          <p:cNvPr id="8" name="Text 5"/>
          <p:cNvSpPr/>
          <p:nvPr/>
        </p:nvSpPr>
        <p:spPr>
          <a:xfrm>
            <a:off x="10655498" y="2752844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기획사 수익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224492" y="3231713"/>
            <a:ext cx="3630692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로열티 50%를 기획사 수익으로 가정 → 65억 원 즉시 창출 곡이 10개만 들어가도 650억 원대 규모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61616" y="5069800"/>
            <a:ext cx="3630692" cy="730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50"/>
              </a:lnSpc>
              <a:buNone/>
            </a:pPr>
            <a:r>
              <a:rPr lang="en-US" sz="57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무한가치</a:t>
            </a:r>
            <a:endParaRPr lang="en-US" sz="5750" dirty="0"/>
          </a:p>
        </p:txBody>
      </p:sp>
      <p:sp>
        <p:nvSpPr>
          <p:cNvPr id="11" name="Text 8"/>
          <p:cNvSpPr/>
          <p:nvPr/>
        </p:nvSpPr>
        <p:spPr>
          <a:xfrm>
            <a:off x="6692622" y="6077545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NFT 가치 상승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261616" y="6556415"/>
            <a:ext cx="3630692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희귀 한정판(예: 기념일 버전, 서명 음원 등)은 1차 발행가 대비 수십 배 가치 상승 가능.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6610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협업 제안 &amp; 두비덥의 역할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두비덥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BM 특허·솔루션·보안 인프라 제공 UI/UX 개발 + DRM/워터마킹 등 기술 전담 NFT 민팅 시스템 연동(필요 시 자체 Marketplace)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음반제작사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음원 IP(Stem 파일) 제공 및 저작권 관계 협의 아티스트 협조(마케팅·티저 등) 라이선스 수익 분배 구조 설계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72201"/>
            <a:ext cx="6811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종합 기대효과: 혁신 &amp; 성장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958929" y="5661303"/>
            <a:ext cx="1800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576292"/>
            <a:ext cx="28705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혁신적 신규 매출원 창출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6066711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불법 편집·유출 ↓ 합법적 커스터마이징 ↑ → 브랜드 이미지 제고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667" y="55762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513201" y="5661303"/>
            <a:ext cx="34123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65783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팬덤 만족도 상승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65783" y="6066711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팬 이탈 방지 &amp; 파급력 증대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59323"/>
            <a:ext cx="59863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새로운 음악 시장의 게임 체인저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98145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두비덥은 이미 BM 특허 및 보안·저작권 관리 솔루션을 완비하여 귀사와의 협업을 시작할 준비가 되어 있습니다. 조만간 직접 시연(PoC)을 통해 더욱 구체적이고 매력적인 지표를 보여드릴 수 있기를 기대합니다.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48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문의 &amp; 시연 요청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3380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담당자: 이름 / 직책 이름/직책 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70700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45329" y="2792016"/>
            <a:ext cx="1800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017306" y="2707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17306" y="3197423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867" y="270700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256401" y="2792016"/>
            <a:ext cx="34123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0908983" y="2707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908983" y="3197423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40422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355794" y="4127302"/>
            <a:ext cx="3589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7017306" y="40422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017306" y="453270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150763"/>
            <a:ext cx="7556421" cy="12562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80190" y="671881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E-mail: 𝑒 𝑚 𝑎 𝑖 𝑙 email / 전화번호: 𝑝 ℎ 𝑜 𝑛 𝑒 phone 상세 기술자료와 데모 영상 준비되어 있음. 필요 시 NDA 체결 후 공유 가능합니다.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048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4200406" y="445781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607022" y="445781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013638" y="445781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1204</Words>
  <Application>Microsoft Office PowerPoint</Application>
  <PresentationFormat>사용자 지정</PresentationFormat>
  <Paragraphs>182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Arial</vt:lpstr>
      <vt:lpstr>Syne</vt:lpstr>
      <vt:lpstr>Syne Extra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균은</cp:lastModifiedBy>
  <cp:revision>1</cp:revision>
  <dcterms:created xsi:type="dcterms:W3CDTF">2025-01-21T08:39:16Z</dcterms:created>
  <dcterms:modified xsi:type="dcterms:W3CDTF">2025-01-31T08:18:42Z</dcterms:modified>
</cp:coreProperties>
</file>